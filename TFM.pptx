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9144000"/>
  <p:notesSz cx="6858000" cy="9144000"/>
  <p:embeddedFontLst>
    <p:embeddedFont>
      <p:font typeface="Arial Narrow"/>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7" roundtripDataSignature="AMtx7mgFAeHhl9IXQ/kQryqTT13P8fFH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8AAE2C-4EC4-44D2-8B41-817CE5654850}">
  <a:tblStyle styleId="{878AAE2C-4EC4-44D2-8B41-817CE56548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rialNarrow-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rialNarrow-italic.fntdata"/><Relationship Id="rId30" Type="http://schemas.openxmlformats.org/officeDocument/2006/relationships/font" Target="fonts/ArialNarrow-bold.fntdata"/><Relationship Id="rId11" Type="http://schemas.openxmlformats.org/officeDocument/2006/relationships/slide" Target="slides/slide4.xml"/><Relationship Id="rId33" Type="http://schemas.openxmlformats.org/officeDocument/2006/relationships/font" Target="fonts/RobotoMono-regular.fntdata"/><Relationship Id="rId10" Type="http://schemas.openxmlformats.org/officeDocument/2006/relationships/slide" Target="slides/slide3.xml"/><Relationship Id="rId32" Type="http://schemas.openxmlformats.org/officeDocument/2006/relationships/font" Target="fonts/ArialNarrow-boldItalic.fntdata"/><Relationship Id="rId13" Type="http://schemas.openxmlformats.org/officeDocument/2006/relationships/slide" Target="slides/slide6.xml"/><Relationship Id="rId35" Type="http://schemas.openxmlformats.org/officeDocument/2006/relationships/font" Target="fonts/RobotoMono-italic.fntdata"/><Relationship Id="rId12" Type="http://schemas.openxmlformats.org/officeDocument/2006/relationships/slide" Target="slides/slide5.xml"/><Relationship Id="rId34" Type="http://schemas.openxmlformats.org/officeDocument/2006/relationships/font" Target="fonts/RobotoMono-bold.fntdata"/><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font" Target="fonts/RobotoMono-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191dd263d_0_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8191dd263d_0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191dd263d_0_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8191dd263d_0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191dd263d_0_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8191dd263d_0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191dd263d_0_1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8191dd263d_0_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1be066649_3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a1be066649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41903a3dc_0_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641903a3dc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41903a3dc_0_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Importante: Fuera de Alcance</a:t>
            </a:r>
            <a:endParaRPr/>
          </a:p>
          <a:p>
            <a:pPr indent="0" lvl="0" marL="0" rtl="0" algn="l">
              <a:spcBef>
                <a:spcPts val="0"/>
              </a:spcBef>
              <a:spcAft>
                <a:spcPts val="0"/>
              </a:spcAft>
              <a:buClr>
                <a:schemeClr val="dk1"/>
              </a:buClr>
              <a:buSzPts val="1100"/>
              <a:buFont typeface="Arial"/>
              <a:buNone/>
            </a:pPr>
            <a:r>
              <a:rPr lang="en-US"/>
              <a:t>        *   El sistema asiste al desarrollador, no implementa la corrección automática de código.</a:t>
            </a:r>
            <a:endParaRPr/>
          </a:p>
          <a:p>
            <a:pPr indent="0" lvl="0" marL="0" rtl="0" algn="l">
              <a:spcBef>
                <a:spcPts val="0"/>
              </a:spcBef>
              <a:spcAft>
                <a:spcPts val="0"/>
              </a:spcAft>
              <a:buNone/>
            </a:pPr>
            <a:r>
              <a:t/>
            </a:r>
            <a:endParaRPr/>
          </a:p>
        </p:txBody>
      </p:sp>
      <p:sp>
        <p:nvSpPr>
          <p:cNvPr id="197" name="Google Shape;197;g3641903a3dc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1980c8407_0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\chapter{Desarrollo del Proyecto}\label{chap:desarrollo}</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Este capítulo constituye el núcleo técnico de la tesis, donde se detalla el proceso de diseño, implementación y validación del prototipo funcional. Partiendo de los requisitos y la metodología establecidos en los capítulos anteriores, se describe la transformación de la propuesta teórica en una solución tangible. Se presenta la arquitectura del sistema, las tecnologías seleccionadas y su configuración, la lógica de orquestación del pipeline CI/CD, y el desarrollo del componente clave de análisis mediante Inteligencia Artificial. El objetivo es ofrecer una visión clara y reproducible del trabajo de ingeniería realizado para materializar la contribución central de esta investigación.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\section{Planificación y Análisis de Requisitos}\label{sec:plani}</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 éxito de un proyecto de ingeniería de software reside en una planificación meticulosa y un análisis profundo de los requisitos. Esta sección detalla el trabajo previo que guió el desarrollo del prototipo, asegurando su alineación con el problema a resolver y las necesidades de su contexto de aplicación.</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\subsection{Análisis del Problema y Contexto de Aplicación}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Retomando la problemática expuesta en la introducción, el principal desafío abordado es la </a:t>
            </a:r>
            <a:r>
              <a:rPr b="1" lang="en-US" sz="1100">
                <a:solidFill>
                  <a:schemeClr val="dk1"/>
                </a:solidFill>
              </a:rPr>
              <a:t>brecha operativa entre la detección de vulnerabilidades y su efectiva mitigación</a:t>
            </a:r>
            <a:r>
              <a:rPr lang="en-US" sz="1100">
                <a:solidFill>
                  <a:schemeClr val="dk1"/>
                </a:solidFill>
              </a:rPr>
              <a:t> en entornos DevOps modernos. En el contexto de una empresa o institución que desarrolla microservicios en Java, los equipos de desarrollo se enfrentan a los siguientes puntos de fricción:</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Fatiga por Alertas:</a:t>
            </a:r>
            <a:r>
              <a:rPr lang="en-US" sz="1100">
                <a:solidFill>
                  <a:schemeClr val="dk1"/>
                </a:solidFill>
              </a:rPr>
              <a:t> Las herramientas SAST y SCA, aunque indispensables, generan un volumen considerable de hallazgos. Los desarrolladores deben invertir un tiempo significativo en filtrar falsos positivos y priorizar alertas, ralentizando el ciclo de desarrollo.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Falta de Guía Contextual:</a:t>
            </a:r>
            <a:r>
              <a:rPr lang="en-US" sz="1100">
                <a:solidFill>
                  <a:schemeClr val="dk1"/>
                </a:solidFill>
              </a:rPr>
              <a:t> A menudo, los reportes de seguridad indican una vulnerabilidad (p. ej., "Inyección SQL") pero no ofrecen una sugerencia de corrección adaptada al código específico del proyecto, dejando la investigación y la solución a cargo del desarrollador.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Curva de Aprendizaje en Seguridad:</a:t>
            </a:r>
            <a:r>
              <a:rPr lang="en-US" sz="1100">
                <a:solidFill>
                  <a:schemeClr val="dk1"/>
                </a:solidFill>
              </a:rPr>
              <a:t> No todos los desarrolladores son expertos en seguridad. La falta de conocimiento específico puede llevar a correcciones ineficaces, incompletas o que introducen nuevos problemas.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 sistema propuesto se concibió para operar directamente en este contexto, actuando como un </a:t>
            </a:r>
            <a:r>
              <a:rPr b="1" lang="en-US" sz="1100">
                <a:solidFill>
                  <a:schemeClr val="dk1"/>
                </a:solidFill>
              </a:rPr>
              <a:t>asistente de seguridad inteligente</a:t>
            </a:r>
            <a:r>
              <a:rPr lang="en-US" sz="1100">
                <a:solidFill>
                  <a:schemeClr val="dk1"/>
                </a:solidFill>
              </a:rPr>
              <a:t> integrado en el flujo de trabajo natural del desarrollador: el pipeline CI/CD.</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\subsection{Requisitos del Sistema}</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Para abordar eficazmente el problema, se definieron los siguientes requisitos funcionales y no funcionales para el prototipo: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Requisitos Funcionales: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RF-01:</a:t>
            </a:r>
            <a:r>
              <a:rPr lang="en-US" sz="1100">
                <a:solidFill>
                  <a:schemeClr val="dk1"/>
                </a:solidFill>
              </a:rPr>
              <a:t> El sistema debe integrarse de forma transparente en un pipeline CI/CD orquestado por Jenkins.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RF-02:</a:t>
            </a:r>
            <a:r>
              <a:rPr lang="en-US" sz="1100">
                <a:solidFill>
                  <a:schemeClr val="dk1"/>
                </a:solidFill>
              </a:rPr>
              <a:t> Debe automatizar la ejecución de herramientas de análisis de seguridad estático (SAST) y de composición de software (SCA) sobre un microservicio Java.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RF-03:</a:t>
            </a:r>
            <a:r>
              <a:rPr lang="en-US" sz="1100">
                <a:solidFill>
                  <a:schemeClr val="dk1"/>
                </a:solidFill>
              </a:rPr>
              <a:t> Debe ser capaz de extraer los resultados procesables de las herramientas de análisis (p. ej., tipo de vulnerabilidad y ubicación).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RF-04:</a:t>
            </a:r>
            <a:r>
              <a:rPr lang="en-US" sz="1100">
                <a:solidFill>
                  <a:schemeClr val="dk1"/>
                </a:solidFill>
              </a:rPr>
              <a:t> Debe utilizar los hallazgos de las herramientas como contexto para consultar un modelo de Lenguaje Grande (LLM) a través de una API.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RF-05:</a:t>
            </a:r>
            <a:r>
              <a:rPr lang="en-US" sz="1100">
                <a:solidFill>
                  <a:schemeClr val="dk1"/>
                </a:solidFill>
              </a:rPr>
              <a:t> El sistema debe generar sugerencias de mitigación y mejoras de calidad para el código fuente analizado, basándose en la respuesta del LLM.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RF-06:</a:t>
            </a:r>
            <a:r>
              <a:rPr lang="en-US" sz="1100">
                <a:solidFill>
                  <a:schemeClr val="dk1"/>
                </a:solidFill>
              </a:rPr>
              <a:t> Debe generar un reporte consolidado y legible (en formato HTML) que presente tanto los hallazgos de las herramientas tradicionales como las sugerencias generadas por la IA.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RF-07:</a:t>
            </a:r>
            <a:r>
              <a:rPr lang="en-US" sz="1100">
                <a:solidFill>
                  <a:schemeClr val="dk1"/>
                </a:solidFill>
              </a:rPr>
              <a:t> El pipeline debe poder implementar "Quality Gates" para evaluar los resultados y, opcionalmente, detener el flujo si se superan ciertos umbrales de riesgo.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Requisitos No Funcionales: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RNF-01 (Rendimiento):</a:t>
            </a:r>
            <a:r>
              <a:rPr lang="en-US" sz="1100">
                <a:solidFill>
                  <a:schemeClr val="dk1"/>
                </a:solidFill>
              </a:rPr>
              <a:t> La etapa de análisis con IA no debe incrementar desproporcionadamente el tiempo total de ejecución del pipeline para no afectar la agilidad de DevOps.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RNF-02 (Modularidad):</a:t>
            </a:r>
            <a:r>
              <a:rPr lang="en-US" sz="1100">
                <a:solidFill>
                  <a:schemeClr val="dk1"/>
                </a:solidFill>
              </a:rPr>
              <a:t> La arquitectura debe ser modular, permitiendo intercambiar el modelo de IA o las herramientas de análisis con un esfuerzo de reconfiguración mínimo.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RNF-03 (Seguridad):</a:t>
            </a:r>
            <a:r>
              <a:rPr lang="en-US" sz="1100">
                <a:solidFill>
                  <a:schemeClr val="dk1"/>
                </a:solidFill>
              </a:rPr>
              <a:t> Las claves de API y otra información sensible deben gestionarse de forma segura, utilizando los mecanismos de credenciales del servidor CI/CD.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RNF-04 (Usabilidad):</a:t>
            </a:r>
            <a:r>
              <a:rPr lang="en-US" sz="1100">
                <a:solidFill>
                  <a:schemeClr val="dk1"/>
                </a:solidFill>
              </a:rPr>
              <a:t> El reporte final debe ser claro, conciso y accionable, diseñado para ser consumido eficientemente por los desarrolladores.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\subsection{Selección y Justificación de Tecnologías}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elección de la pila tecnológica fue un paso crucial, guiado por los requisitos de modularidad, integración y la prevalencia en la industria.</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Orquestador CI/CD: Jenkins:</a:t>
            </a:r>
            <a:r>
              <a:rPr lang="en-US" sz="1100">
                <a:solidFill>
                  <a:schemeClr val="dk1"/>
                </a:solidFill>
              </a:rPr>
              <a:t> Se seleccionó Jenkins por ser una de las plataformas de automatización de código abierto más robustas, maduras y extensibles del mercado. Su sistema de plugins y su soporte para pipelines declarativos (</a:t>
            </a:r>
            <a:r>
              <a:rPr lang="en-US" sz="1100">
                <a:solidFill>
                  <a:srgbClr val="188038"/>
                </a:solidFill>
                <a:latin typeface="Roboto Mono"/>
                <a:ea typeface="Roboto Mono"/>
                <a:cs typeface="Roboto Mono"/>
                <a:sym typeface="Roboto Mono"/>
              </a:rPr>
              <a:t>Jenkinsfile</a:t>
            </a:r>
            <a:r>
              <a:rPr lang="en-US" sz="1100">
                <a:solidFill>
                  <a:schemeClr val="dk1"/>
                </a:solidFill>
              </a:rPr>
              <a:t>) ofrecen la flexibilidad necesaria para construir flujos de trabajo complejos y personalizados.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Contenerización: Docker:</a:t>
            </a:r>
            <a:r>
              <a:rPr lang="en-US" sz="1100">
                <a:solidFill>
                  <a:schemeClr val="dk1"/>
                </a:solidFill>
              </a:rPr>
              <a:t> Docker fue la elección natural para garantizar la reproducibilidad y el aislamiento del entorno. Permite empaquetar la aplicación, el servidor Jenkins y sus dependencias en contenedores portables, eliminando el problema de "en mi máquina funciona". La capacidad de orquestar estos contenedores con Docker Compose simplifica enormemente la configuración del entorno de desarrollo y pruebas.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Control de Versiones y Sincronización: GitHub y GitHub Actions:</a:t>
            </a:r>
            <a:r>
              <a:rPr lang="en-US" sz="1100">
                <a:solidFill>
                  <a:schemeClr val="dk1"/>
                </a:solidFill>
              </a:rPr>
              <a:t> Se utilizó GitHub como repositorio de código fuente central. Aunque Jenkins maneja el pipeline principal, se configuró un webhook simple mediante GitHub Actions para notificar a Jenkins ante cada </a:t>
            </a:r>
            <a:r>
              <a:rPr lang="en-US" sz="1100">
                <a:solidFill>
                  <a:srgbClr val="188038"/>
                </a:solidFill>
                <a:latin typeface="Roboto Mono"/>
                <a:ea typeface="Roboto Mono"/>
                <a:cs typeface="Roboto Mono"/>
                <a:sym typeface="Roboto Mono"/>
              </a:rPr>
              <a:t>push</a:t>
            </a:r>
            <a:r>
              <a:rPr lang="en-US" sz="1100">
                <a:solidFill>
                  <a:schemeClr val="dk1"/>
                </a:solidFill>
              </a:rPr>
              <a:t> a la rama </a:t>
            </a:r>
            <a:r>
              <a:rPr lang="en-US" sz="1100">
                <a:solidFill>
                  <a:srgbClr val="188038"/>
                </a:solidFill>
                <a:latin typeface="Roboto Mono"/>
                <a:ea typeface="Roboto Mono"/>
                <a:cs typeface="Roboto Mono"/>
                <a:sym typeface="Roboto Mono"/>
              </a:rPr>
              <a:t>main</a:t>
            </a:r>
            <a:r>
              <a:rPr lang="en-US" sz="1100">
                <a:solidFill>
                  <a:schemeClr val="dk1"/>
                </a:solidFill>
              </a:rPr>
              <a:t>, garantizando así la integración continua.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Análisis de Vulnerabilidades y Calidad:</a:t>
            </a:r>
            <a:endParaRPr b="1"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US" sz="1100">
                <a:solidFill>
                  <a:schemeClr val="dk1"/>
                </a:solidFill>
              </a:rPr>
              <a:t>OWASP Dependency-Check:</a:t>
            </a:r>
            <a:r>
              <a:rPr lang="en-US" sz="1100">
                <a:solidFill>
                  <a:schemeClr val="dk1"/>
                </a:solidFill>
              </a:rPr>
              <a:t> Se eligió para el análisis de composición de software (SCA). Es una herramienta estándar de la industria, de código abierto, que identifica vulnerabilidades conocidas en las dependencias del proyecto, un vector de ataque crítico en aplicaciones modernas.</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US" sz="1100">
                <a:solidFill>
                  <a:schemeClr val="dk1"/>
                </a:solidFill>
              </a:rPr>
              <a:t>SpotBugs:</a:t>
            </a:r>
            <a:r>
              <a:rPr lang="en-US" sz="1100">
                <a:solidFill>
                  <a:schemeClr val="dk1"/>
                </a:solidFill>
              </a:rPr>
              <a:t> Se seleccionó como herramienta SAST para identificar patrones de errores comunes y "code smells" en Java. Aunque no es estrictamente una herramienta de seguridad, muchos de los problemas que detecta (como el uso de recursos sin cerrar) tienen implicaciones de seguridad.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Plataforma de Modelos de IA: OpenRouter.ai:</a:t>
            </a:r>
            <a:r>
              <a:rPr lang="en-US" sz="1100">
                <a:solidFill>
                  <a:schemeClr val="dk1"/>
                </a:solidFill>
              </a:rPr>
              <a:t> Inicialmente, se experimentó con modelos locales autohospedados mediante </a:t>
            </a:r>
            <a:r>
              <a:rPr b="1" lang="en-US" sz="1100">
                <a:solidFill>
                  <a:schemeClr val="dk1"/>
                </a:solidFill>
              </a:rPr>
              <a:t>Ollama</a:t>
            </a:r>
            <a:r>
              <a:rPr lang="en-US" sz="1100">
                <a:solidFill>
                  <a:schemeClr val="dk1"/>
                </a:solidFill>
              </a:rPr>
              <a:t>. Sin embargo, esta aproximación presentó un </a:t>
            </a:r>
            <a:r>
              <a:rPr b="1" lang="en-US" sz="1100">
                <a:solidFill>
                  <a:schemeClr val="dk1"/>
                </a:solidFill>
              </a:rPr>
              <a:t>desafío de rendimiento significativo</a:t>
            </a:r>
            <a:r>
              <a:rPr lang="en-US" sz="1100">
                <a:solidFill>
                  <a:schemeClr val="dk1"/>
                </a:solidFill>
              </a:rPr>
              <a:t>, ya que la ejecución de modelos de lenguaje grandes es intensiva en recursos (CPU/GPU y RAM), lo que ralentizaba drásticamente el pipeline en hardware convencional. Para superar este obstáculo y ganar flexibilidad, se optó por </a:t>
            </a:r>
            <a:r>
              <a:rPr b="1" lang="en-US" sz="1100">
                <a:solidFill>
                  <a:schemeClr val="dk1"/>
                </a:solidFill>
              </a:rPr>
              <a:t>OpenRouter.ai</a:t>
            </a:r>
            <a:r>
              <a:rPr lang="en-US" sz="1100">
                <a:solidFill>
                  <a:schemeClr val="dk1"/>
                </a:solidFill>
              </a:rPr>
              <a:t>. Esta plataforma actúa como un agregador, proporcionando una única API para acceder a una vasta gama de modelos de IA de diferentes proveedores. Esta decisión fue estratégica por tres razones:</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US" sz="1100">
                <a:solidFill>
                  <a:schemeClr val="dk1"/>
                </a:solidFill>
              </a:rPr>
              <a:t>Rendimiento:</a:t>
            </a:r>
            <a:r>
              <a:rPr lang="en-US" sz="1100">
                <a:solidFill>
                  <a:schemeClr val="dk1"/>
                </a:solidFill>
              </a:rPr>
              <a:t> Delega la carga computacional a una infraestructura en la nube optimizada.</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US" sz="1100">
                <a:solidFill>
                  <a:schemeClr val="dk1"/>
                </a:solidFill>
              </a:rPr>
              <a:t>Flexibilidad:</a:t>
            </a:r>
            <a:r>
              <a:rPr lang="en-US" sz="1100">
                <a:solidFill>
                  <a:schemeClr val="dk1"/>
                </a:solidFill>
              </a:rPr>
              <a:t> Permite cambiar de modelo (p. ej., de DeepSeek a Mistral o Llama) con solo modificar un parámetro en la llamada a la API, facilitando la experimentación.</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US" sz="1100">
                <a:solidFill>
                  <a:schemeClr val="dk1"/>
                </a:solidFill>
              </a:rPr>
              <a:t>Costo-Eficiencia:</a:t>
            </a:r>
            <a:r>
              <a:rPr lang="en-US" sz="1100">
                <a:solidFill>
                  <a:schemeClr val="dk1"/>
                </a:solidFill>
              </a:rPr>
              <a:t> Ofrece acceso a modelos potentes con un esquema de pago por uso, evitando una gran inversión inicial en hardware.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Lenguaje de Scripting: Python:</a:t>
            </a:r>
            <a:r>
              <a:rPr lang="en-US" sz="1100">
                <a:solidFill>
                  <a:schemeClr val="dk1"/>
                </a:solidFill>
              </a:rPr>
              <a:t> Se eligió Python para la lógica de integración con la IA debido a su simplicidad, su robusto ecosistema de librerías (como </a:t>
            </a:r>
            <a:r>
              <a:rPr lang="en-US" sz="1100">
                <a:solidFill>
                  <a:srgbClr val="188038"/>
                </a:solidFill>
                <a:latin typeface="Roboto Mono"/>
                <a:ea typeface="Roboto Mono"/>
                <a:cs typeface="Roboto Mono"/>
                <a:sym typeface="Roboto Mono"/>
              </a:rPr>
              <a:t>requests</a:t>
            </a:r>
            <a:r>
              <a:rPr lang="en-US" sz="1100">
                <a:solidFill>
                  <a:schemeClr val="dk1"/>
                </a:solidFill>
              </a:rPr>
              <a:t> para llamadas HTTP y </a:t>
            </a:r>
            <a:r>
              <a:rPr lang="en-US" sz="1100">
                <a:solidFill>
                  <a:srgbClr val="188038"/>
                </a:solidFill>
                <a:latin typeface="Roboto Mono"/>
                <a:ea typeface="Roboto Mono"/>
                <a:cs typeface="Roboto Mono"/>
                <a:sym typeface="Roboto Mono"/>
              </a:rPr>
              <a:t>json</a:t>
            </a:r>
            <a:r>
              <a:rPr lang="en-US" sz="1100">
                <a:solidFill>
                  <a:schemeClr val="dk1"/>
                </a:solidFill>
              </a:rPr>
              <a:t> para manipulación de datos) y su facilidad para ser ejecutado dentro de un </a:t>
            </a:r>
            <a:r>
              <a:rPr lang="en-US" sz="1100">
                <a:solidFill>
                  <a:srgbClr val="188038"/>
                </a:solidFill>
                <a:latin typeface="Roboto Mono"/>
                <a:ea typeface="Roboto Mono"/>
                <a:cs typeface="Roboto Mono"/>
                <a:sym typeface="Roboto Mono"/>
              </a:rPr>
              <a:t>stage</a:t>
            </a:r>
            <a:r>
              <a:rPr lang="en-US" sz="1100">
                <a:solidFill>
                  <a:schemeClr val="dk1"/>
                </a:solidFill>
              </a:rPr>
              <a:t> de Jenkins.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\section{Descripción del Sistema Desarrollado e Implementación}\label{sec:descripcionsistema}</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Esta sección detalla la materialización del prototipo, desde la arquitectura general hasta los detalles de implementación de cada componente.</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\subsection{Arquitectura General del Prototipo}</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solución se diseñó siguiendo una arquitectura de flujo de datos clara y automatizada, orquestada por Jenkins. El diagrama siguiente ilustra la interacción entre los componentes clave.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Diagrama de Flujo de la Arquitectura:</a:t>
            </a:r>
            <a:endParaRPr b="1" sz="1100">
              <a:solidFill>
                <a:schemeClr val="dk1"/>
              </a:solidFill>
            </a:endParaRPr>
          </a:p>
          <a:p>
            <a:pPr indent="0" lvl="0" marL="0" rtl="0" algn="l">
              <a:spcBef>
                <a:spcPts val="1200"/>
              </a:spcBef>
              <a:spcAft>
                <a:spcPts val="0"/>
              </a:spcAft>
              <a:buNone/>
            </a:pPr>
            <a:r>
              <a:rPr lang="en-US" sz="1100">
                <a:solidFill>
                  <a:schemeClr val="dk1"/>
                </a:solidFill>
              </a:rPr>
              <a:t>     +-----------------+      +---------------------+      +----------------+</a:t>
            </a:r>
            <a:endParaRPr sz="1100">
              <a:solidFill>
                <a:schemeClr val="dk1"/>
              </a:solidFill>
            </a:endParaRPr>
          </a:p>
          <a:p>
            <a:pPr indent="0" lvl="0" marL="0" rtl="0" algn="l">
              <a:spcBef>
                <a:spcPts val="0"/>
              </a:spcBef>
              <a:spcAft>
                <a:spcPts val="0"/>
              </a:spcAft>
              <a:buNone/>
            </a:pPr>
            <a:r>
              <a:rPr lang="en-US" sz="1100">
                <a:solidFill>
                  <a:schemeClr val="dk1"/>
                </a:solidFill>
              </a:rPr>
              <a:t>(1)   |                 |      |                     |      |                |</a:t>
            </a:r>
            <a:endParaRPr sz="1100">
              <a:solidFill>
                <a:schemeClr val="dk1"/>
              </a:solidFill>
            </a:endParaRPr>
          </a:p>
          <a:p>
            <a:pPr indent="0" lvl="0" marL="0" rtl="0" algn="l">
              <a:spcBef>
                <a:spcPts val="0"/>
              </a:spcBef>
              <a:spcAft>
                <a:spcPts val="0"/>
              </a:spcAft>
              <a:buNone/>
            </a:pPr>
            <a:r>
              <a:rPr lang="en-US" sz="1100">
                <a:solidFill>
                  <a:schemeClr val="dk1"/>
                </a:solidFill>
              </a:rPr>
              <a:t>Dev --+--&gt; Git Push a   +-----&gt;| Webhook (GH Actions)|--+--&gt;| Jenkins Server |</a:t>
            </a:r>
            <a:endParaRPr sz="1100">
              <a:solidFill>
                <a:schemeClr val="dk1"/>
              </a:solidFill>
            </a:endParaRPr>
          </a:p>
          <a:p>
            <a:pPr indent="0" lvl="0" marL="0" rtl="0" algn="l">
              <a:spcBef>
                <a:spcPts val="0"/>
              </a:spcBef>
              <a:spcAft>
                <a:spcPts val="0"/>
              </a:spcAft>
              <a:buNone/>
            </a:pPr>
            <a:r>
              <a:rPr lang="en-US" sz="1100">
                <a:solidFill>
                  <a:schemeClr val="dk1"/>
                </a:solidFill>
              </a:rPr>
              <a:t>      |   GitHub Repo   |      |   notifica a Jenkins|  |   | (Docker Cont.) |</a:t>
            </a:r>
            <a:endParaRPr sz="1100">
              <a:solidFill>
                <a:schemeClr val="dk1"/>
              </a:solidFill>
            </a:endParaRPr>
          </a:p>
          <a:p>
            <a:pPr indent="0" lvl="0" marL="0" rtl="0" algn="l">
              <a:spcBef>
                <a:spcPts val="0"/>
              </a:spcBef>
              <a:spcAft>
                <a:spcPts val="0"/>
              </a:spcAft>
              <a:buNone/>
            </a:pPr>
            <a:r>
              <a:rPr lang="en-US" sz="1100">
                <a:solidFill>
                  <a:schemeClr val="dk1"/>
                </a:solidFill>
              </a:rPr>
              <a:t>      |                 |      |                     |  |   |                |</a:t>
            </a:r>
            <a:endParaRPr sz="1100">
              <a:solidFill>
                <a:schemeClr val="dk1"/>
              </a:solidFill>
            </a:endParaRPr>
          </a:p>
          <a:p>
            <a:pPr indent="0" lvl="0" marL="0" rtl="0" algn="l">
              <a:spcBef>
                <a:spcPts val="0"/>
              </a:spcBef>
              <a:spcAft>
                <a:spcPts val="0"/>
              </a:spcAft>
              <a:buNone/>
            </a:pPr>
            <a:r>
              <a:rPr lang="en-US" sz="1100">
                <a:solidFill>
                  <a:schemeClr val="dk1"/>
                </a:solidFill>
              </a:rPr>
              <a:t>      +-----------------+      +---------------------+  |   +-------+--------+</a:t>
            </a:r>
            <a:endParaRPr sz="1100">
              <a:solidFill>
                <a:schemeClr val="dk1"/>
              </a:solidFill>
            </a:endParaRPr>
          </a:p>
          <a:p>
            <a:pPr indent="0" lvl="0" marL="0" rtl="0" algn="l">
              <a:spcBef>
                <a:spcPts val="0"/>
              </a:spcBef>
              <a:spcAft>
                <a:spcPts val="0"/>
              </a:spcAft>
              <a:buNone/>
            </a:pPr>
            <a:r>
              <a:rPr lang="en-US" sz="1100">
                <a:solidFill>
                  <a:schemeClr val="dk1"/>
                </a:solidFill>
              </a:rPr>
              <a:t>                                                        |           | (2)</a:t>
            </a:r>
            <a:endParaRPr sz="1100">
              <a:solidFill>
                <a:schemeClr val="dk1"/>
              </a:solidFill>
            </a:endParaRPr>
          </a:p>
          <a:p>
            <a:pPr indent="0" lvl="0" marL="0" rtl="0" algn="l">
              <a:spcBef>
                <a:spcPts val="0"/>
              </a:spcBef>
              <a:spcAft>
                <a:spcPts val="0"/>
              </a:spcAft>
              <a:buNone/>
            </a:pPr>
            <a:r>
              <a:rPr lang="en-US" sz="1100">
                <a:solidFill>
                  <a:schemeClr val="dk1"/>
                </a:solidFill>
              </a:rPr>
              <a:t>                                                        |           | Pipeline Triggered</a:t>
            </a:r>
            <a:endParaRPr sz="1100">
              <a:solidFill>
                <a:schemeClr val="dk1"/>
              </a:solidFill>
            </a:endParaRPr>
          </a:p>
          <a:p>
            <a:pPr indent="0" lvl="0" marL="0" rtl="0" algn="l">
              <a:spcBef>
                <a:spcPts val="0"/>
              </a:spcBef>
              <a:spcAft>
                <a:spcPts val="0"/>
              </a:spcAft>
              <a:buNone/>
            </a:pPr>
            <a:r>
              <a:rPr lang="en-US" sz="1100">
                <a:solidFill>
                  <a:schemeClr val="dk1"/>
                </a:solidFill>
              </a:rPr>
              <a:t>                                                        |           v</a:t>
            </a:r>
            <a:endParaRPr sz="1100">
              <a:solidFill>
                <a:schemeClr val="dk1"/>
              </a:solidFill>
            </a:endParaRPr>
          </a:p>
          <a:p>
            <a:pPr indent="0" lvl="0" marL="0" rtl="0" algn="l">
              <a:spcBef>
                <a:spcPts val="0"/>
              </a:spcBef>
              <a:spcAft>
                <a:spcPts val="0"/>
              </a:spcAft>
              <a:buNone/>
            </a:pPr>
            <a:r>
              <a:rPr lang="en-US" sz="1100">
                <a:solidFill>
                  <a:schemeClr val="dk1"/>
                </a:solidFill>
              </a:rPr>
              <a:t>                                          +-------------+-----------------------------+</a:t>
            </a:r>
            <a:endParaRPr sz="1100">
              <a:solidFill>
                <a:schemeClr val="dk1"/>
              </a:solidFill>
            </a:endParaRPr>
          </a:p>
          <a:p>
            <a:pPr indent="0" lvl="0" marL="0" rtl="0" algn="l">
              <a:spcBef>
                <a:spcPts val="0"/>
              </a:spcBef>
              <a:spcAft>
                <a:spcPts val="0"/>
              </a:spcAft>
              <a:buNone/>
            </a:pPr>
            <a:r>
              <a:rPr lang="en-US" sz="1100">
                <a:solidFill>
                  <a:schemeClr val="dk1"/>
                </a:solidFill>
              </a:rPr>
              <a:t>                                          | Jenkins Pipeline (`Jenkinsfile`)            |</a:t>
            </a:r>
            <a:endParaRPr sz="1100">
              <a:solidFill>
                <a:schemeClr val="dk1"/>
              </a:solidFill>
            </a:endParaRPr>
          </a:p>
          <a:p>
            <a:pPr indent="0" lvl="0" marL="0" rtl="0" algn="l">
              <a:spcBef>
                <a:spcPts val="0"/>
              </a:spcBef>
              <a:spcAft>
                <a:spcPts val="0"/>
              </a:spcAft>
              <a:buNone/>
            </a:pPr>
            <a:r>
              <a:rPr lang="en-US" sz="1100">
                <a:solidFill>
                  <a:schemeClr val="dk1"/>
                </a:solidFill>
              </a:rPr>
              <a:t>                                          |                                             |</a:t>
            </a:r>
            <a:endParaRPr sz="1100">
              <a:solidFill>
                <a:schemeClr val="dk1"/>
              </a:solidFill>
            </a:endParaRPr>
          </a:p>
          <a:p>
            <a:pPr indent="0" lvl="0" marL="0" rtl="0" algn="l">
              <a:spcBef>
                <a:spcPts val="0"/>
              </a:spcBef>
              <a:spcAft>
                <a:spcPts val="0"/>
              </a:spcAft>
              <a:buNone/>
            </a:pPr>
            <a:r>
              <a:rPr lang="en-US" sz="1100">
                <a:solidFill>
                  <a:schemeClr val="dk1"/>
                </a:solidFill>
              </a:rPr>
              <a:t>   +--------------------------------------+ Stage: Checkout &amp; Build (Maven)             |</a:t>
            </a:r>
            <a:endParaRPr sz="1100">
              <a:solidFill>
                <a:schemeClr val="dk1"/>
              </a:solidFill>
            </a:endParaRPr>
          </a:p>
          <a:p>
            <a:pPr indent="0" lvl="0" marL="0" rtl="0" algn="l">
              <a:spcBef>
                <a:spcPts val="0"/>
              </a:spcBef>
              <a:spcAft>
                <a:spcPts val="0"/>
              </a:spcAft>
              <a:buNone/>
            </a:pPr>
            <a:r>
              <a:rPr lang="en-US" sz="1100">
                <a:solidFill>
                  <a:schemeClr val="dk1"/>
                </a:solidFill>
              </a:rPr>
              <a:t>   |                                      |   - mvn clean package                       |</a:t>
            </a:r>
            <a:endParaRPr sz="1100">
              <a:solidFill>
                <a:schemeClr val="dk1"/>
              </a:solidFill>
            </a:endParaRPr>
          </a:p>
          <a:p>
            <a:pPr indent="0" lvl="0" marL="0" rtl="0" algn="l">
              <a:spcBef>
                <a:spcPts val="0"/>
              </a:spcBef>
              <a:spcAft>
                <a:spcPts val="0"/>
              </a:spcAft>
              <a:buNone/>
            </a:pPr>
            <a:r>
              <a:rPr lang="en-US" sz="1100">
                <a:solidFill>
                  <a:schemeClr val="dk1"/>
                </a:solidFill>
              </a:rPr>
              <a:t>   |                                      +---------------------------------------------+</a:t>
            </a:r>
            <a:endParaRPr sz="1100">
              <a:solidFill>
                <a:schemeClr val="dk1"/>
              </a:solidFill>
            </a:endParaRPr>
          </a:p>
          <a:p>
            <a:pPr indent="0" lvl="0" marL="0" rtl="0" algn="l">
              <a:spcBef>
                <a:spcPts val="0"/>
              </a:spcBef>
              <a:spcAft>
                <a:spcPts val="0"/>
              </a:spcAft>
              <a:buNone/>
            </a:pPr>
            <a:r>
              <a:rPr lang="en-US" sz="1100">
                <a:solidFill>
                  <a:schemeClr val="dk1"/>
                </a:solidFill>
              </a:rPr>
              <a:t>   |                                      | Stage: Static Analysis (Parallel)           |</a:t>
            </a:r>
            <a:endParaRPr sz="1100">
              <a:solidFill>
                <a:schemeClr val="dk1"/>
              </a:solidFill>
            </a:endParaRPr>
          </a:p>
          <a:p>
            <a:pPr indent="0" lvl="0" marL="0" rtl="0" algn="l">
              <a:spcBef>
                <a:spcPts val="0"/>
              </a:spcBef>
              <a:spcAft>
                <a:spcPts val="0"/>
              </a:spcAft>
              <a:buNone/>
            </a:pPr>
            <a:r>
              <a:rPr lang="en-US" sz="1100">
                <a:solidFill>
                  <a:schemeClr val="dk1"/>
                </a:solidFill>
              </a:rPr>
              <a:t>   |                                      |   - OWASP Dependency-Check (SCA) -&gt; report.json |</a:t>
            </a:r>
            <a:endParaRPr sz="1100">
              <a:solidFill>
                <a:schemeClr val="dk1"/>
              </a:solidFill>
            </a:endParaRPr>
          </a:p>
          <a:p>
            <a:pPr indent="0" lvl="0" marL="0" rtl="0" algn="l">
              <a:spcBef>
                <a:spcPts val="0"/>
              </a:spcBef>
              <a:spcAft>
                <a:spcPts val="0"/>
              </a:spcAft>
              <a:buNone/>
            </a:pPr>
            <a:r>
              <a:rPr lang="en-US" sz="1100">
                <a:solidFill>
                  <a:schemeClr val="dk1"/>
                </a:solidFill>
              </a:rPr>
              <a:t>   |                                      |   - SpotBugs (SAST) -&gt; report.xml           |</a:t>
            </a:r>
            <a:endParaRPr sz="1100">
              <a:solidFill>
                <a:schemeClr val="dk1"/>
              </a:solidFill>
            </a:endParaRPr>
          </a:p>
          <a:p>
            <a:pPr indent="0" lvl="0" marL="0" rtl="0" algn="l">
              <a:spcBef>
                <a:spcPts val="0"/>
              </a:spcBef>
              <a:spcAft>
                <a:spcPts val="0"/>
              </a:spcAft>
              <a:buNone/>
            </a:pPr>
            <a:r>
              <a:rPr lang="en-US" sz="1100">
                <a:solidFill>
                  <a:schemeClr val="dk1"/>
                </a:solidFill>
              </a:rPr>
              <a:t>   |   +----------------------------------+---------------------------------------------+</a:t>
            </a:r>
            <a:endParaRPr sz="1100">
              <a:solidFill>
                <a:schemeClr val="dk1"/>
              </a:solidFill>
            </a:endParaRPr>
          </a:p>
          <a:p>
            <a:pPr indent="0" lvl="0" marL="0" rtl="0" algn="l">
              <a:spcBef>
                <a:spcPts val="0"/>
              </a:spcBef>
              <a:spcAft>
                <a:spcPts val="0"/>
              </a:spcAft>
              <a:buNone/>
            </a:pPr>
            <a:r>
              <a:rPr lang="en-US" sz="1100">
                <a:solidFill>
                  <a:schemeClr val="dk1"/>
                </a:solidFill>
              </a:rPr>
              <a:t>   |   | (3)                              | Stage: AI-Powered Analysis (Python Script)  |</a:t>
            </a:r>
            <a:endParaRPr sz="1100">
              <a:solidFill>
                <a:schemeClr val="dk1"/>
              </a:solidFill>
            </a:endParaRPr>
          </a:p>
          <a:p>
            <a:pPr indent="0" lvl="0" marL="0" rtl="0" algn="l">
              <a:spcBef>
                <a:spcPts val="0"/>
              </a:spcBef>
              <a:spcAft>
                <a:spcPts val="0"/>
              </a:spcAft>
              <a:buNone/>
            </a:pPr>
            <a:r>
              <a:rPr lang="en-US" sz="1100">
                <a:solidFill>
                  <a:schemeClr val="dk1"/>
                </a:solidFill>
              </a:rPr>
              <a:t>   |   |                                  |   - Lee el código fuente Java.              |</a:t>
            </a:r>
            <a:endParaRPr sz="1100">
              <a:solidFill>
                <a:schemeClr val="dk1"/>
              </a:solidFill>
            </a:endParaRPr>
          </a:p>
          <a:p>
            <a:pPr indent="0" lvl="0" marL="0" rtl="0" algn="l">
              <a:spcBef>
                <a:spcPts val="0"/>
              </a:spcBef>
              <a:spcAft>
                <a:spcPts val="0"/>
              </a:spcAft>
              <a:buNone/>
            </a:pPr>
            <a:r>
              <a:rPr lang="en-US" sz="1100">
                <a:solidFill>
                  <a:schemeClr val="dk1"/>
                </a:solidFill>
              </a:rPr>
              <a:t>   |   |                                  |   - Construye el Prompt.                    |</a:t>
            </a:r>
            <a:endParaRPr sz="1100">
              <a:solidFill>
                <a:schemeClr val="dk1"/>
              </a:solidFill>
            </a:endParaRPr>
          </a:p>
          <a:p>
            <a:pPr indent="0" lvl="0" marL="0" rtl="0" algn="l">
              <a:spcBef>
                <a:spcPts val="0"/>
              </a:spcBef>
              <a:spcAft>
                <a:spcPts val="0"/>
              </a:spcAft>
              <a:buNone/>
            </a:pPr>
            <a:r>
              <a:rPr lang="en-US" sz="1100">
                <a:solidFill>
                  <a:schemeClr val="dk1"/>
                </a:solidFill>
              </a:rPr>
              <a:t>   +-&gt; | Llama a la API                   |   - Envía a OpenRouter.ai API.              |</a:t>
            </a:r>
            <a:endParaRPr sz="1100">
              <a:solidFill>
                <a:schemeClr val="dk1"/>
              </a:solidFill>
            </a:endParaRPr>
          </a:p>
          <a:p>
            <a:pPr indent="0" lvl="0" marL="0" rtl="0" algn="l">
              <a:spcBef>
                <a:spcPts val="0"/>
              </a:spcBef>
              <a:spcAft>
                <a:spcPts val="0"/>
              </a:spcAft>
              <a:buNone/>
            </a:pPr>
            <a:r>
              <a:rPr lang="en-US" sz="1100">
                <a:solidFill>
                  <a:schemeClr val="dk1"/>
                </a:solidFill>
              </a:rPr>
              <a:t>       +------------------+               |   - Recibe y procesa la respuesta JSON.     |</a:t>
            </a:r>
            <a:endParaRPr sz="1100">
              <a:solidFill>
                <a:schemeClr val="dk1"/>
              </a:solidFill>
            </a:endParaRPr>
          </a:p>
          <a:p>
            <a:pPr indent="0" lvl="0" marL="0" rtl="0" algn="l">
              <a:spcBef>
                <a:spcPts val="0"/>
              </a:spcBef>
              <a:spcAft>
                <a:spcPts val="0"/>
              </a:spcAft>
              <a:buNone/>
            </a:pPr>
            <a:r>
              <a:rPr lang="en-US" sz="1100">
                <a:solidFill>
                  <a:schemeClr val="dk1"/>
                </a:solidFill>
              </a:rPr>
              <a:t>                          |               +---------------------------------------------+</a:t>
            </a:r>
            <a:endParaRPr sz="1100">
              <a:solidFill>
                <a:schemeClr val="dk1"/>
              </a:solidFill>
            </a:endParaRPr>
          </a:p>
          <a:p>
            <a:pPr indent="0" lvl="0" marL="0" rtl="0" algn="l">
              <a:spcBef>
                <a:spcPts val="0"/>
              </a:spcBef>
              <a:spcAft>
                <a:spcPts val="0"/>
              </a:spcAft>
              <a:buNone/>
            </a:pPr>
            <a:r>
              <a:rPr lang="en-US" sz="1100">
                <a:solidFill>
                  <a:schemeClr val="dk1"/>
                </a:solidFill>
              </a:rPr>
              <a:t>       +------------------v--+            | Stage: Report Generation                    |</a:t>
            </a:r>
            <a:endParaRPr sz="1100">
              <a:solidFill>
                <a:schemeClr val="dk1"/>
              </a:solidFill>
            </a:endParaRPr>
          </a:p>
          <a:p>
            <a:pPr indent="0" lvl="0" marL="0" rtl="0" algn="l">
              <a:spcBef>
                <a:spcPts val="0"/>
              </a:spcBef>
              <a:spcAft>
                <a:spcPts val="0"/>
              </a:spcAft>
              <a:buNone/>
            </a:pPr>
            <a:r>
              <a:rPr lang="en-US" sz="1100">
                <a:solidFill>
                  <a:schemeClr val="dk1"/>
                </a:solidFill>
              </a:rPr>
              <a:t>       | OpenRouter.ai API |            |   - El script Python genera report.html.    |</a:t>
            </a:r>
            <a:endParaRPr sz="1100">
              <a:solidFill>
                <a:schemeClr val="dk1"/>
              </a:solidFill>
            </a:endParaRPr>
          </a:p>
          <a:p>
            <a:pPr indent="0" lvl="0" marL="0" rtl="0" algn="l">
              <a:spcBef>
                <a:spcPts val="0"/>
              </a:spcBef>
              <a:spcAft>
                <a:spcPts val="0"/>
              </a:spcAft>
              <a:buNone/>
            </a:pPr>
            <a:r>
              <a:rPr lang="en-US" sz="1100">
                <a:solidFill>
                  <a:schemeClr val="dk1"/>
                </a:solidFill>
              </a:rPr>
              <a:t>       | (LLM en la nube)  |            +---------------------------------------------+</a:t>
            </a:r>
            <a:endParaRPr sz="1100">
              <a:solidFill>
                <a:schemeClr val="dk1"/>
              </a:solidFill>
            </a:endParaRPr>
          </a:p>
          <a:p>
            <a:pPr indent="0" lvl="0" marL="0" rtl="0" algn="l">
              <a:spcBef>
                <a:spcPts val="0"/>
              </a:spcBef>
              <a:spcAft>
                <a:spcPts val="0"/>
              </a:spcAft>
              <a:buNone/>
            </a:pPr>
            <a:r>
              <a:rPr lang="en-US" sz="1100">
                <a:solidFill>
                  <a:schemeClr val="dk1"/>
                </a:solidFill>
              </a:rPr>
              <a:t>       +-------------------+            | Stage: Quality Gates                        |</a:t>
            </a:r>
            <a:endParaRPr sz="1100">
              <a:solidFill>
                <a:schemeClr val="dk1"/>
              </a:solidFill>
            </a:endParaRPr>
          </a:p>
          <a:p>
            <a:pPr indent="0" lvl="0" marL="0" rtl="0" algn="l">
              <a:spcBef>
                <a:spcPts val="0"/>
              </a:spcBef>
              <a:spcAft>
                <a:spcPts val="0"/>
              </a:spcAft>
              <a:buNone/>
            </a:pPr>
            <a:r>
              <a:rPr lang="en-US" sz="1100">
                <a:solidFill>
                  <a:schemeClr val="dk1"/>
                </a:solidFill>
              </a:rPr>
              <a:t>                                        |   - Lee JSON y evalúa umbrales.             |</a:t>
            </a:r>
            <a:endParaRPr sz="1100">
              <a:solidFill>
                <a:schemeClr val="dk1"/>
              </a:solidFill>
            </a:endParaRPr>
          </a:p>
          <a:p>
            <a:pPr indent="0" lvl="0" marL="0" rtl="0" algn="l">
              <a:spcBef>
                <a:spcPts val="0"/>
              </a:spcBef>
              <a:spcAft>
                <a:spcPts val="0"/>
              </a:spcAft>
              <a:buNone/>
            </a:pPr>
            <a:r>
              <a:rPr lang="en-US" sz="1100">
                <a:solidFill>
                  <a:schemeClr val="dk1"/>
                </a:solidFill>
              </a:rPr>
              <a:t>                                        +---------------------------------------------+ (4)</a:t>
            </a:r>
            <a:endParaRPr sz="1100">
              <a:solidFill>
                <a:schemeClr val="dk1"/>
              </a:solidFill>
            </a:endParaRPr>
          </a:p>
          <a:p>
            <a:pPr indent="0" lvl="0" marL="0" rtl="0" algn="l">
              <a:spcBef>
                <a:spcPts val="0"/>
              </a:spcBef>
              <a:spcAft>
                <a:spcPts val="0"/>
              </a:spcAft>
              <a:buNone/>
            </a:pPr>
            <a:r>
              <a:rPr lang="en-US" sz="1100">
                <a:solidFill>
                  <a:schemeClr val="dk1"/>
                </a:solidFill>
              </a:rPr>
              <a:t>                                        | Post-Actions                                |   |</a:t>
            </a:r>
            <a:endParaRPr sz="1100">
              <a:solidFill>
                <a:schemeClr val="dk1"/>
              </a:solidFill>
            </a:endParaRPr>
          </a:p>
          <a:p>
            <a:pPr indent="0" lvl="0" marL="0" rtl="0" algn="l">
              <a:spcBef>
                <a:spcPts val="0"/>
              </a:spcBef>
              <a:spcAft>
                <a:spcPts val="0"/>
              </a:spcAft>
              <a:buNone/>
            </a:pPr>
            <a:r>
              <a:rPr lang="en-US" sz="1100">
                <a:solidFill>
                  <a:schemeClr val="dk1"/>
                </a:solidFill>
              </a:rPr>
              <a:t>                                        |   - Archiva artefactos (reportes).          |   |</a:t>
            </a:r>
            <a:endParaRPr sz="1100">
              <a:solidFill>
                <a:schemeClr val="dk1"/>
              </a:solidFill>
            </a:endParaRPr>
          </a:p>
          <a:p>
            <a:pPr indent="0" lvl="0" marL="0" rtl="0" algn="l">
              <a:spcBef>
                <a:spcPts val="0"/>
              </a:spcBef>
              <a:spcAft>
                <a:spcPts val="0"/>
              </a:spcAft>
              <a:buNone/>
            </a:pPr>
            <a:r>
              <a:rPr lang="en-US" sz="1100">
                <a:solidFill>
                  <a:schemeClr val="dk1"/>
                </a:solidFill>
              </a:rPr>
              <a:t>                                        |   - Publica reporte HTML.                   |   |</a:t>
            </a:r>
            <a:endParaRPr sz="1100">
              <a:solidFill>
                <a:schemeClr val="dk1"/>
              </a:solidFill>
            </a:endParaRPr>
          </a:p>
          <a:p>
            <a:pPr indent="0" lvl="0" marL="0" rtl="0" algn="l">
              <a:spcBef>
                <a:spcPts val="0"/>
              </a:spcBef>
              <a:spcAft>
                <a:spcPts val="0"/>
              </a:spcAft>
              <a:buNone/>
            </a:pPr>
            <a:r>
              <a:rPr lang="en-US" sz="1100">
                <a:solidFill>
                  <a:schemeClr val="dk1"/>
                </a:solidFill>
              </a:rPr>
              <a:t>                                        +---------------------------------------------+   |</a:t>
            </a:r>
            <a:endParaRPr sz="1100">
              <a:solidFill>
                <a:schemeClr val="dk1"/>
              </a:solidFill>
            </a:endParaRPr>
          </a:p>
          <a:p>
            <a:pPr indent="0" lvl="0" marL="0" rtl="0" algn="l">
              <a:spcBef>
                <a:spcPts val="0"/>
              </a:spcBef>
              <a:spcAft>
                <a:spcPts val="0"/>
              </a:spcAft>
              <a:buNone/>
            </a:pPr>
            <a:r>
              <a:rPr lang="en-US" sz="1100">
                <a:solidFill>
                  <a:schemeClr val="dk1"/>
                </a:solidFill>
              </a:rPr>
              <a:t>                                                                                          |</a:t>
            </a:r>
            <a:endParaRPr sz="1100">
              <a:solidFill>
                <a:schemeClr val="dk1"/>
              </a:solidFill>
            </a:endParaRPr>
          </a:p>
          <a:p>
            <a:pPr indent="0" lvl="0" marL="0" rtl="0" algn="l">
              <a:spcBef>
                <a:spcPts val="0"/>
              </a:spcBef>
              <a:spcAft>
                <a:spcPts val="0"/>
              </a:spcAft>
              <a:buNone/>
            </a:pPr>
            <a:r>
              <a:rPr lang="en-US" sz="1100">
                <a:solidFill>
                  <a:schemeClr val="dk1"/>
                </a:solidFill>
              </a:rPr>
              <a:t>                                                            +-----------------------------v-+</a:t>
            </a:r>
            <a:endParaRPr sz="1100">
              <a:solidFill>
                <a:schemeClr val="dk1"/>
              </a:solidFill>
            </a:endParaRPr>
          </a:p>
          <a:p>
            <a:pPr indent="0" lvl="0" marL="0" rtl="0" algn="l">
              <a:spcBef>
                <a:spcPts val="0"/>
              </a:spcBef>
              <a:spcAft>
                <a:spcPts val="0"/>
              </a:spcAft>
              <a:buNone/>
            </a:pPr>
            <a:r>
              <a:rPr lang="en-US" sz="1100">
                <a:solidFill>
                  <a:schemeClr val="dk1"/>
                </a:solidFill>
              </a:rPr>
              <a:t>                                                            |          Despliegue Continuo    |</a:t>
            </a:r>
            <a:endParaRPr sz="1100">
              <a:solidFill>
                <a:schemeClr val="dk1"/>
              </a:solidFill>
            </a:endParaRPr>
          </a:p>
          <a:p>
            <a:pPr indent="0" lvl="0" marL="0" rtl="0" algn="l">
              <a:spcBef>
                <a:spcPts val="0"/>
              </a:spcBef>
              <a:spcAft>
                <a:spcPts val="0"/>
              </a:spcAft>
              <a:buNone/>
            </a:pPr>
            <a:r>
              <a:rPr lang="en-US" sz="1100">
                <a:solidFill>
                  <a:schemeClr val="dk1"/>
                </a:solidFill>
              </a:rPr>
              <a:t>                                                            |     (Etapa Opcional/Futura)     |</a:t>
            </a:r>
            <a:endParaRPr sz="1100">
              <a:solidFill>
                <a:schemeClr val="dk1"/>
              </a:solidFill>
            </a:endParaRPr>
          </a:p>
          <a:p>
            <a:pPr indent="0" lvl="0" marL="0" rtl="0" algn="l">
              <a:spcBef>
                <a:spcPts val="0"/>
              </a:spcBef>
              <a:spcAft>
                <a:spcPts val="0"/>
              </a:spcAft>
              <a:buNone/>
            </a:pPr>
            <a:r>
              <a:rPr lang="en-US" sz="1100">
                <a:solidFill>
                  <a:schemeClr val="dk1"/>
                </a:solidFill>
              </a:rPr>
              <a:t>                                                            |   - Construir Imagen Docker     |</a:t>
            </a:r>
            <a:endParaRPr sz="1100">
              <a:solidFill>
                <a:schemeClr val="dk1"/>
              </a:solidFill>
            </a:endParaRPr>
          </a:p>
          <a:p>
            <a:pPr indent="0" lvl="0" marL="0" rtl="0" algn="l">
              <a:spcBef>
                <a:spcPts val="0"/>
              </a:spcBef>
              <a:spcAft>
                <a:spcPts val="0"/>
              </a:spcAft>
              <a:buNone/>
            </a:pPr>
            <a:r>
              <a:rPr lang="en-US" sz="1100">
                <a:solidFill>
                  <a:schemeClr val="dk1"/>
                </a:solidFill>
              </a:rPr>
              <a:t>                                                            |   - Desplegar Contenedor        |</a:t>
            </a:r>
            <a:endParaRPr sz="1100">
              <a:solidFill>
                <a:schemeClr val="dk1"/>
              </a:solidFill>
            </a:endParaRPr>
          </a:p>
          <a:p>
            <a:pPr indent="0" lvl="0" marL="0" rtl="0" algn="l">
              <a:spcBef>
                <a:spcPts val="0"/>
              </a:spcBef>
              <a:spcAft>
                <a:spcPts val="0"/>
              </a:spcAft>
              <a:buNone/>
            </a:pPr>
            <a:r>
              <a:rPr lang="en-US" sz="1100">
                <a:solidFill>
                  <a:schemeClr val="dk1"/>
                </a:solidFill>
              </a:rPr>
              <a:t>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Flujo del Proceso:</a:t>
            </a:r>
            <a:endParaRPr b="1"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Inicio:</a:t>
            </a:r>
            <a:r>
              <a:rPr lang="en-US" sz="1100">
                <a:solidFill>
                  <a:schemeClr val="dk1"/>
                </a:solidFill>
              </a:rPr>
              <a:t> Un desarrollador envía código al repositorio de GitHub.</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Disparo:</a:t>
            </a:r>
            <a:r>
              <a:rPr lang="en-US" sz="1100">
                <a:solidFill>
                  <a:schemeClr val="dk1"/>
                </a:solidFill>
              </a:rPr>
              <a:t> Un webhook notifica a Jenkins, que inicia el pipeline definido en el </a:t>
            </a:r>
            <a:r>
              <a:rPr lang="en-US" sz="1100">
                <a:solidFill>
                  <a:srgbClr val="188038"/>
                </a:solidFill>
                <a:latin typeface="Roboto Mono"/>
                <a:ea typeface="Roboto Mono"/>
                <a:cs typeface="Roboto Mono"/>
                <a:sym typeface="Roboto Mono"/>
              </a:rPr>
              <a:t>Jenkinsfile</a:t>
            </a:r>
            <a:r>
              <a:rPr lang="en-US"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Análisis y Enriquecimiento:</a:t>
            </a:r>
            <a:r>
              <a:rPr lang="en-US" sz="1100">
                <a:solidFill>
                  <a:schemeClr val="dk1"/>
                </a:solidFill>
              </a:rPr>
              <a:t> El pipeline compila el código, ejecuta análisis SCA/SAST y luego invoca el script de Python. Este script utiliza el código fuente para consultar al modelo de IA a través de OpenRouter, solicitando un análisis de seguridad y calidad.</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Resultados:</a:t>
            </a:r>
            <a:r>
              <a:rPr lang="en-US" sz="1100">
                <a:solidFill>
                  <a:schemeClr val="dk1"/>
                </a:solidFill>
              </a:rPr>
              <a:t> El script genera los reportes, que son archivados por Jenkins y puestos a disposición del desarrollador. Los "Quality Gates" evalúan los resultados para tomar una decisión sobre la viabilidad del build.</a:t>
            </a:r>
            <a:endParaRPr sz="1100">
              <a:solidFill>
                <a:schemeClr val="dk1"/>
              </a:solidFill>
            </a:endParaRPr>
          </a:p>
          <a:p>
            <a:pPr indent="0" lvl="0" marL="0" rtl="0" algn="l">
              <a:spcBef>
                <a:spcPts val="1200"/>
              </a:spcBef>
              <a:spcAft>
                <a:spcPts val="0"/>
              </a:spcAft>
              <a:buNone/>
            </a:pPr>
            <a:r>
              <a:t/>
            </a:r>
            <a:endParaRPr/>
          </a:p>
        </p:txBody>
      </p:sp>
      <p:sp>
        <p:nvSpPr>
          <p:cNvPr id="208" name="Google Shape;208;g3a1980c8407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1980c8407_0_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a1980c8407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1980c8407_0_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a1980c8407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1980c8407_0_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a1980c8407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41903a3dc_0_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641903a3dc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6391e8495_0_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solidFill>
                  <a:schemeClr val="dk1"/>
                </a:solidFill>
              </a:rPr>
              <a:t>“críptico”</a:t>
            </a:r>
            <a:r>
              <a:rPr lang="en-US" sz="1100">
                <a:solidFill>
                  <a:schemeClr val="dk1"/>
                </a:solidFill>
              </a:rPr>
              <a:t> significa que las </a:t>
            </a:r>
            <a:r>
              <a:rPr b="1" lang="en-US" sz="1100">
                <a:solidFill>
                  <a:schemeClr val="dk1"/>
                </a:solidFill>
              </a:rPr>
              <a:t>alertas son poco claras, ambiguas o difíciles de interpretar</a:t>
            </a:r>
            <a:r>
              <a:rPr lang="en-US" sz="1100">
                <a:solidFill>
                  <a:schemeClr val="dk1"/>
                </a:solidFill>
              </a:rPr>
              <a:t>.</a:t>
            </a:r>
            <a:endParaRPr/>
          </a:p>
        </p:txBody>
      </p:sp>
      <p:sp>
        <p:nvSpPr>
          <p:cNvPr id="260" name="Google Shape;260;g366391e8495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19cde219b_1_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819cde219b_1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7c740b1bcb_0_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7c740b1bcb_0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6391e8495_0_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66391e8495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66391e8495_0_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66391e8495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 name="Shape 8"/>
        <p:cNvGrpSpPr/>
        <p:nvPr/>
      </p:nvGrpSpPr>
      <p:grpSpPr>
        <a:xfrm>
          <a:off x="0" y="0"/>
          <a:ext cx="0" cy="0"/>
          <a:chOff x="0" y="0"/>
          <a:chExt cx="0" cy="0"/>
        </a:xfrm>
      </p:grpSpPr>
      <p:sp>
        <p:nvSpPr>
          <p:cNvPr id="9" name="Google Shape;9;p37"/>
          <p:cNvSpPr txBox="1"/>
          <p:nvPr>
            <p:ph type="title"/>
          </p:nvPr>
        </p:nvSpPr>
        <p:spPr>
          <a:xfrm>
            <a:off x="0" y="2957512"/>
            <a:ext cx="9144000" cy="614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 name="Google Shape;10;p3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1" name="Shape 11"/>
        <p:cNvGrpSpPr/>
        <p:nvPr/>
      </p:nvGrpSpPr>
      <p:grpSpPr>
        <a:xfrm>
          <a:off x="0" y="0"/>
          <a:ext cx="0" cy="0"/>
          <a:chOff x="0" y="0"/>
          <a:chExt cx="0" cy="0"/>
        </a:xfrm>
      </p:grpSpPr>
      <p:sp>
        <p:nvSpPr>
          <p:cNvPr id="12" name="Google Shape;12;p40"/>
          <p:cNvSpPr txBox="1"/>
          <p:nvPr>
            <p:ph type="title"/>
          </p:nvPr>
        </p:nvSpPr>
        <p:spPr>
          <a:xfrm rot="5400000">
            <a:off x="5737950" y="2720250"/>
            <a:ext cx="4526100" cy="2286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0"/>
          <p:cNvSpPr txBox="1"/>
          <p:nvPr>
            <p:ph idx="1" type="body"/>
          </p:nvPr>
        </p:nvSpPr>
        <p:spPr>
          <a:xfrm rot="5400000">
            <a:off x="1089750" y="510450"/>
            <a:ext cx="4526100" cy="67056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 name="Shape 14"/>
        <p:cNvGrpSpPr/>
        <p:nvPr/>
      </p:nvGrpSpPr>
      <p:grpSpPr>
        <a:xfrm>
          <a:off x="0" y="0"/>
          <a:ext cx="0" cy="0"/>
          <a:chOff x="0" y="0"/>
          <a:chExt cx="0" cy="0"/>
        </a:xfrm>
      </p:grpSpPr>
      <p:sp>
        <p:nvSpPr>
          <p:cNvPr id="15" name="Google Shape;15;p41"/>
          <p:cNvSpPr txBox="1"/>
          <p:nvPr>
            <p:ph type="title"/>
          </p:nvPr>
        </p:nvSpPr>
        <p:spPr>
          <a:xfrm>
            <a:off x="0" y="2957512"/>
            <a:ext cx="9144000" cy="614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7" name="Shape 17"/>
        <p:cNvGrpSpPr/>
        <p:nvPr/>
      </p:nvGrpSpPr>
      <p:grpSpPr>
        <a:xfrm>
          <a:off x="0" y="0"/>
          <a:ext cx="0" cy="0"/>
          <a:chOff x="0" y="0"/>
          <a:chExt cx="0" cy="0"/>
        </a:xfrm>
      </p:grpSpPr>
      <p:sp>
        <p:nvSpPr>
          <p:cNvPr id="18" name="Google Shape;18;p42"/>
          <p:cNvSpPr txBox="1"/>
          <p:nvPr>
            <p:ph type="title"/>
          </p:nvPr>
        </p:nvSpPr>
        <p:spPr>
          <a:xfrm>
            <a:off x="1792288" y="4800600"/>
            <a:ext cx="5486400" cy="5667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2"/>
          <p:cNvSpPr/>
          <p:nvPr>
            <p:ph idx="2" type="pic"/>
          </p:nvPr>
        </p:nvSpPr>
        <p:spPr>
          <a:xfrm>
            <a:off x="1792288" y="612775"/>
            <a:ext cx="5486400" cy="4114800"/>
          </a:xfrm>
          <a:prstGeom prst="rect">
            <a:avLst/>
          </a:prstGeom>
          <a:noFill/>
          <a:ln>
            <a:noFill/>
          </a:ln>
        </p:spPr>
      </p:sp>
      <p:sp>
        <p:nvSpPr>
          <p:cNvPr id="20" name="Google Shape;20;p4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200"/>
              <a:buFont typeface="Arial"/>
              <a:buNone/>
              <a:defRPr b="0" i="0" sz="12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000"/>
              <a:buFont typeface="Arial"/>
              <a:buNone/>
              <a:defRPr b="0" i="0" sz="10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1" name="Shape 21"/>
        <p:cNvGrpSpPr/>
        <p:nvPr/>
      </p:nvGrpSpPr>
      <p:grpSpPr>
        <a:xfrm>
          <a:off x="0" y="0"/>
          <a:ext cx="0" cy="0"/>
          <a:chOff x="0" y="0"/>
          <a:chExt cx="0" cy="0"/>
        </a:xfrm>
      </p:grpSpPr>
      <p:sp>
        <p:nvSpPr>
          <p:cNvPr id="22" name="Google Shape;22;p43"/>
          <p:cNvSpPr txBox="1"/>
          <p:nvPr>
            <p:ph type="title"/>
          </p:nvPr>
        </p:nvSpPr>
        <p:spPr>
          <a:xfrm>
            <a:off x="457200" y="273050"/>
            <a:ext cx="3008400" cy="1161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3"/>
          <p:cNvSpPr txBox="1"/>
          <p:nvPr>
            <p:ph idx="1" type="body"/>
          </p:nvPr>
        </p:nvSpPr>
        <p:spPr>
          <a:xfrm>
            <a:off x="3575050" y="273050"/>
            <a:ext cx="5111700" cy="58533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400"/>
              </a:spcBef>
              <a:spcAft>
                <a:spcPts val="0"/>
              </a:spcAft>
              <a:buClr>
                <a:srgbClr val="666666"/>
              </a:buClr>
              <a:buSzPts val="3200"/>
              <a:buFont typeface="Arial"/>
              <a:buChar char="•"/>
              <a:defRPr b="0" i="0" sz="3200" u="none" cap="none" strike="noStrike">
                <a:solidFill>
                  <a:srgbClr val="666666"/>
                </a:solidFill>
                <a:latin typeface="Arial"/>
                <a:ea typeface="Arial"/>
                <a:cs typeface="Arial"/>
                <a:sym typeface="Arial"/>
              </a:defRPr>
            </a:lvl1pPr>
            <a:lvl2pPr indent="-406400" lvl="1" marL="9144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2pPr>
            <a:lvl3pPr indent="-381000" lvl="2" marL="13716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
        <p:nvSpPr>
          <p:cNvPr id="24" name="Google Shape;24;p43"/>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200"/>
              <a:buFont typeface="Arial"/>
              <a:buNone/>
              <a:defRPr b="0" i="0" sz="12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000"/>
              <a:buFont typeface="Arial"/>
              <a:buNone/>
              <a:defRPr b="0" i="0" sz="10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26" name="Shape 26"/>
        <p:cNvGrpSpPr/>
        <p:nvPr/>
      </p:nvGrpSpPr>
      <p:grpSpPr>
        <a:xfrm>
          <a:off x="0" y="0"/>
          <a:ext cx="0" cy="0"/>
          <a:chOff x="0" y="0"/>
          <a:chExt cx="0" cy="0"/>
        </a:xfrm>
      </p:grpSpPr>
      <p:sp>
        <p:nvSpPr>
          <p:cNvPr id="27" name="Google Shape;27;p45"/>
          <p:cNvSpPr txBox="1"/>
          <p:nvPr>
            <p:ph type="title"/>
          </p:nvPr>
        </p:nvSpPr>
        <p:spPr>
          <a:xfrm>
            <a:off x="0" y="2957512"/>
            <a:ext cx="9144000" cy="614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28" name="Shape 28"/>
        <p:cNvGrpSpPr/>
        <p:nvPr/>
      </p:nvGrpSpPr>
      <p:grpSpPr>
        <a:xfrm>
          <a:off x="0" y="0"/>
          <a:ext cx="0" cy="0"/>
          <a:chOff x="0" y="0"/>
          <a:chExt cx="0" cy="0"/>
        </a:xfrm>
      </p:grpSpPr>
      <p:sp>
        <p:nvSpPr>
          <p:cNvPr id="29" name="Google Shape;29;p46"/>
          <p:cNvSpPr txBox="1"/>
          <p:nvPr>
            <p:ph type="title"/>
          </p:nvPr>
        </p:nvSpPr>
        <p:spPr>
          <a:xfrm>
            <a:off x="457200" y="274638"/>
            <a:ext cx="8229600" cy="11433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6"/>
          <p:cNvSpPr txBox="1"/>
          <p:nvPr>
            <p:ph idx="1" type="body"/>
          </p:nvPr>
        </p:nvSpPr>
        <p:spPr>
          <a:xfrm>
            <a:off x="457200" y="1535113"/>
            <a:ext cx="4040100" cy="6396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400"/>
              <a:buFont typeface="Arial"/>
              <a:buNone/>
              <a:defRPr b="1" i="0" sz="2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2000"/>
              <a:buFont typeface="Arial"/>
              <a:buNone/>
              <a:defRPr b="1" i="0" sz="20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800"/>
              <a:buFont typeface="Arial"/>
              <a:buNone/>
              <a:defRPr b="1" i="0" sz="18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9pPr>
          </a:lstStyle>
          <a:p/>
        </p:txBody>
      </p:sp>
      <p:sp>
        <p:nvSpPr>
          <p:cNvPr id="31" name="Google Shape;31;p46"/>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42900" lvl="2" marL="1371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3pPr>
            <a:lvl4pPr indent="-330200" lvl="3" marL="1828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4pPr>
            <a:lvl5pPr indent="-330200" lvl="4" marL="22860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5pPr>
            <a:lvl6pPr indent="-330200" lvl="5" marL="27432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6pPr>
            <a:lvl7pPr indent="-330200" lvl="6" marL="32004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7pPr>
            <a:lvl8pPr indent="-330200" lvl="7" marL="36576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8pPr>
            <a:lvl9pPr indent="-330200" lvl="8" marL="4114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9pPr>
          </a:lstStyle>
          <a:p/>
        </p:txBody>
      </p:sp>
      <p:sp>
        <p:nvSpPr>
          <p:cNvPr id="32" name="Google Shape;32;p46"/>
          <p:cNvSpPr txBox="1"/>
          <p:nvPr>
            <p:ph idx="3" type="body"/>
          </p:nvPr>
        </p:nvSpPr>
        <p:spPr>
          <a:xfrm>
            <a:off x="4645025" y="1535113"/>
            <a:ext cx="4041900" cy="6396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400"/>
              <a:buFont typeface="Arial"/>
              <a:buNone/>
              <a:defRPr b="1" i="0" sz="2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2000"/>
              <a:buFont typeface="Arial"/>
              <a:buNone/>
              <a:defRPr b="1" i="0" sz="20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800"/>
              <a:buFont typeface="Arial"/>
              <a:buNone/>
              <a:defRPr b="1" i="0" sz="18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9pPr>
          </a:lstStyle>
          <a:p/>
        </p:txBody>
      </p:sp>
      <p:sp>
        <p:nvSpPr>
          <p:cNvPr id="33" name="Google Shape;33;p46"/>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42900" lvl="2" marL="1371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3pPr>
            <a:lvl4pPr indent="-330200" lvl="3" marL="1828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4pPr>
            <a:lvl5pPr indent="-330200" lvl="4" marL="22860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5pPr>
            <a:lvl6pPr indent="-330200" lvl="5" marL="27432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6pPr>
            <a:lvl7pPr indent="-330200" lvl="6" marL="32004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7pPr>
            <a:lvl8pPr indent="-330200" lvl="7" marL="36576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8pPr>
            <a:lvl9pPr indent="-330200" lvl="8" marL="4114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47"/>
          <p:cNvSpPr txBox="1"/>
          <p:nvPr>
            <p:ph type="title"/>
          </p:nvPr>
        </p:nvSpPr>
        <p:spPr>
          <a:xfrm>
            <a:off x="0" y="2957512"/>
            <a:ext cx="9144000" cy="614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1pPr>
            <a:lvl2pPr indent="-381000" lvl="1" marL="9144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42900" lvl="3" marL="1828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4pPr>
            <a:lvl5pPr indent="-342900" lvl="4" marL="22860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5pPr>
            <a:lvl6pPr indent="-342900" lvl="5" marL="27432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6pPr>
            <a:lvl7pPr indent="-342900" lvl="6" marL="32004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7pPr>
            <a:lvl8pPr indent="-342900" lvl="7" marL="3657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8pPr>
            <a:lvl9pPr indent="-342900" lvl="8" marL="4114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9pPr>
          </a:lstStyle>
          <a:p/>
        </p:txBody>
      </p:sp>
      <p:sp>
        <p:nvSpPr>
          <p:cNvPr id="37" name="Google Shape;37;p4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1pPr>
            <a:lvl2pPr indent="-381000" lvl="1" marL="9144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42900" lvl="3" marL="1828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4pPr>
            <a:lvl5pPr indent="-342900" lvl="4" marL="22860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5pPr>
            <a:lvl6pPr indent="-342900" lvl="5" marL="27432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6pPr>
            <a:lvl7pPr indent="-342900" lvl="6" marL="32004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7pPr>
            <a:lvl8pPr indent="-342900" lvl="7" marL="3657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8pPr>
            <a:lvl9pPr indent="-342900" lvl="8" marL="4114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8" name="Shape 38"/>
        <p:cNvGrpSpPr/>
        <p:nvPr/>
      </p:nvGrpSpPr>
      <p:grpSpPr>
        <a:xfrm>
          <a:off x="0" y="0"/>
          <a:ext cx="0" cy="0"/>
          <a:chOff x="0" y="0"/>
          <a:chExt cx="0" cy="0"/>
        </a:xfrm>
      </p:grpSpPr>
      <p:sp>
        <p:nvSpPr>
          <p:cNvPr id="39" name="Google Shape;39;p48"/>
          <p:cNvSpPr txBox="1"/>
          <p:nvPr>
            <p:ph type="title"/>
          </p:nvPr>
        </p:nvSpPr>
        <p:spPr>
          <a:xfrm>
            <a:off x="722313" y="4406900"/>
            <a:ext cx="7772400" cy="1362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8"/>
          <p:cNvSpPr txBox="1"/>
          <p:nvPr>
            <p:ph idx="1" type="body"/>
          </p:nvPr>
        </p:nvSpPr>
        <p:spPr>
          <a:xfrm>
            <a:off x="722313" y="2906713"/>
            <a:ext cx="7772400" cy="15000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800"/>
              <a:buFont typeface="Arial"/>
              <a:buNone/>
              <a:defRPr b="0" i="0" sz="18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600"/>
              <a:buFont typeface="Arial"/>
              <a:buNone/>
              <a:defRPr b="0" i="0" sz="16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41" name="Shape 41"/>
        <p:cNvGrpSpPr/>
        <p:nvPr/>
      </p:nvGrpSpPr>
      <p:grpSpPr>
        <a:xfrm>
          <a:off x="0" y="0"/>
          <a:ext cx="0" cy="0"/>
          <a:chOff x="0" y="0"/>
          <a:chExt cx="0" cy="0"/>
        </a:xfrm>
      </p:grpSpPr>
      <p:sp>
        <p:nvSpPr>
          <p:cNvPr id="42" name="Google Shape;42;p49"/>
          <p:cNvSpPr txBox="1"/>
          <p:nvPr>
            <p:ph type="ctrTitle"/>
          </p:nvPr>
        </p:nvSpPr>
        <p:spPr>
          <a:xfrm>
            <a:off x="685800" y="2130425"/>
            <a:ext cx="7772400" cy="147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9"/>
          <p:cNvSpPr txBox="1"/>
          <p:nvPr>
            <p:ph idx="1" type="subTitle"/>
          </p:nvPr>
        </p:nvSpPr>
        <p:spPr>
          <a:xfrm>
            <a:off x="1371600" y="3886200"/>
            <a:ext cx="6400800" cy="1752900"/>
          </a:xfrm>
          <a:prstGeom prst="rect">
            <a:avLst/>
          </a:prstGeom>
          <a:noFill/>
          <a:ln>
            <a:noFill/>
          </a:ln>
        </p:spPr>
        <p:txBody>
          <a:bodyPr anchorCtr="0" anchor="t" bIns="45700" lIns="91425" spcFirstLastPara="1" rIns="91425" wrap="square" tIns="45700">
            <a:noAutofit/>
          </a:bodyPr>
          <a:lstStyle>
            <a:lvl1pPr lvl="0"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1pPr>
            <a:lvl2pPr lvl="1"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2pPr>
            <a:lvl3pPr lvl="2"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3pPr>
            <a:lvl4pPr lvl="3"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4pPr>
            <a:lvl5pPr lvl="4"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5pPr>
            <a:lvl6pPr lvl="5"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6pPr>
            <a:lvl7pPr lvl="6"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7pPr>
            <a:lvl8pPr lvl="7"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8pPr>
            <a:lvl9pPr lvl="8"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39"/>
          <p:cNvSpPr txBox="1"/>
          <p:nvPr>
            <p:ph type="title"/>
          </p:nvPr>
        </p:nvSpPr>
        <p:spPr>
          <a:xfrm>
            <a:off x="457200" y="274638"/>
            <a:ext cx="8229600" cy="114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52" name="Google Shape;52;p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
        <p:nvSpPr>
          <p:cNvPr id="53" name="Google Shape;53;p39"/>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54" name="Shape 54"/>
        <p:cNvGrpSpPr/>
        <p:nvPr/>
      </p:nvGrpSpPr>
      <p:grpSpPr>
        <a:xfrm>
          <a:off x="0" y="0"/>
          <a:ext cx="0" cy="0"/>
          <a:chOff x="0" y="0"/>
          <a:chExt cx="0" cy="0"/>
        </a:xfrm>
      </p:grpSpPr>
      <p:sp>
        <p:nvSpPr>
          <p:cNvPr id="55" name="Google Shape;55;p50"/>
          <p:cNvSpPr txBox="1"/>
          <p:nvPr>
            <p:ph type="title"/>
          </p:nvPr>
        </p:nvSpPr>
        <p:spPr>
          <a:xfrm rot="5400000">
            <a:off x="4732350" y="2171688"/>
            <a:ext cx="5851500" cy="20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56" name="Google Shape;56;p50"/>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
        <p:nvSpPr>
          <p:cNvPr id="57" name="Google Shape;57;p50"/>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58" name="Shape 58"/>
        <p:cNvGrpSpPr/>
        <p:nvPr/>
      </p:nvGrpSpPr>
      <p:grpSpPr>
        <a:xfrm>
          <a:off x="0" y="0"/>
          <a:ext cx="0" cy="0"/>
          <a:chOff x="0" y="0"/>
          <a:chExt cx="0" cy="0"/>
        </a:xfrm>
      </p:grpSpPr>
      <p:sp>
        <p:nvSpPr>
          <p:cNvPr id="59" name="Google Shape;59;p51"/>
          <p:cNvSpPr txBox="1"/>
          <p:nvPr>
            <p:ph type="title"/>
          </p:nvPr>
        </p:nvSpPr>
        <p:spPr>
          <a:xfrm>
            <a:off x="457200" y="274638"/>
            <a:ext cx="8229600" cy="114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60" name="Google Shape;60;p5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
        <p:nvSpPr>
          <p:cNvPr id="61" name="Google Shape;61;p51"/>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2" name="Shape 62"/>
        <p:cNvGrpSpPr/>
        <p:nvPr/>
      </p:nvGrpSpPr>
      <p:grpSpPr>
        <a:xfrm>
          <a:off x="0" y="0"/>
          <a:ext cx="0" cy="0"/>
          <a:chOff x="0" y="0"/>
          <a:chExt cx="0" cy="0"/>
        </a:xfrm>
      </p:grpSpPr>
      <p:sp>
        <p:nvSpPr>
          <p:cNvPr id="63" name="Google Shape;63;p5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64" name="Google Shape;64;p52"/>
          <p:cNvSpPr/>
          <p:nvPr>
            <p:ph idx="2" type="pic"/>
          </p:nvPr>
        </p:nvSpPr>
        <p:spPr>
          <a:xfrm>
            <a:off x="1792288" y="612775"/>
            <a:ext cx="5486400" cy="4114800"/>
          </a:xfrm>
          <a:prstGeom prst="rect">
            <a:avLst/>
          </a:prstGeom>
          <a:noFill/>
          <a:ln>
            <a:noFill/>
          </a:ln>
        </p:spPr>
      </p:sp>
      <p:sp>
        <p:nvSpPr>
          <p:cNvPr id="65" name="Google Shape;65;p5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200"/>
              <a:buFont typeface="Arial"/>
              <a:buNone/>
              <a:defRPr b="0" i="0" sz="12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000"/>
              <a:buFont typeface="Arial"/>
              <a:buNone/>
              <a:defRPr b="0" i="0" sz="10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9pPr>
          </a:lstStyle>
          <a:p/>
        </p:txBody>
      </p:sp>
      <p:sp>
        <p:nvSpPr>
          <p:cNvPr id="66" name="Google Shape;66;p52"/>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7" name="Shape 67"/>
        <p:cNvGrpSpPr/>
        <p:nvPr/>
      </p:nvGrpSpPr>
      <p:grpSpPr>
        <a:xfrm>
          <a:off x="0" y="0"/>
          <a:ext cx="0" cy="0"/>
          <a:chOff x="0" y="0"/>
          <a:chExt cx="0" cy="0"/>
        </a:xfrm>
      </p:grpSpPr>
      <p:sp>
        <p:nvSpPr>
          <p:cNvPr id="68" name="Google Shape;68;p53"/>
          <p:cNvSpPr txBox="1"/>
          <p:nvPr>
            <p:ph type="title"/>
          </p:nvPr>
        </p:nvSpPr>
        <p:spPr>
          <a:xfrm>
            <a:off x="457200" y="273050"/>
            <a:ext cx="3008400" cy="1161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69" name="Google Shape;69;p53"/>
          <p:cNvSpPr txBox="1"/>
          <p:nvPr>
            <p:ph idx="1" type="body"/>
          </p:nvPr>
        </p:nvSpPr>
        <p:spPr>
          <a:xfrm>
            <a:off x="3575050" y="273050"/>
            <a:ext cx="5111700" cy="58533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400"/>
              </a:spcBef>
              <a:spcAft>
                <a:spcPts val="0"/>
              </a:spcAft>
              <a:buClr>
                <a:srgbClr val="666666"/>
              </a:buClr>
              <a:buSzPts val="3200"/>
              <a:buFont typeface="Arial"/>
              <a:buChar char="•"/>
              <a:defRPr b="0" i="0" sz="3200" u="none" cap="none" strike="noStrike">
                <a:solidFill>
                  <a:srgbClr val="666666"/>
                </a:solidFill>
                <a:latin typeface="Arial"/>
                <a:ea typeface="Arial"/>
                <a:cs typeface="Arial"/>
                <a:sym typeface="Arial"/>
              </a:defRPr>
            </a:lvl1pPr>
            <a:lvl2pPr indent="-406400" lvl="1" marL="9144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2pPr>
            <a:lvl3pPr indent="-381000" lvl="2" marL="13716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3pPr>
            <a:lvl4pPr indent="-355600" lvl="3" marL="1828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4pPr>
            <a:lvl5pPr indent="-355600" lvl="4" marL="22860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5pPr>
            <a:lvl6pPr indent="-355600" lvl="5" marL="27432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6pPr>
            <a:lvl7pPr indent="-355600" lvl="6" marL="3200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7pPr>
            <a:lvl8pPr indent="-355600" lvl="7" marL="3657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8pPr>
            <a:lvl9pPr indent="-355600" lvl="8" marL="41148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9pPr>
          </a:lstStyle>
          <a:p/>
        </p:txBody>
      </p:sp>
      <p:sp>
        <p:nvSpPr>
          <p:cNvPr id="70" name="Google Shape;70;p53"/>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200"/>
              <a:buFont typeface="Arial"/>
              <a:buNone/>
              <a:defRPr b="0" i="0" sz="12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000"/>
              <a:buFont typeface="Arial"/>
              <a:buNone/>
              <a:defRPr b="0" i="0" sz="10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900"/>
              <a:buFont typeface="Arial"/>
              <a:buNone/>
              <a:defRPr b="0" i="0" sz="900" u="none" cap="none" strike="noStrike">
                <a:solidFill>
                  <a:srgbClr val="666666"/>
                </a:solidFill>
                <a:latin typeface="Arial"/>
                <a:ea typeface="Arial"/>
                <a:cs typeface="Arial"/>
                <a:sym typeface="Arial"/>
              </a:defRPr>
            </a:lvl9pPr>
          </a:lstStyle>
          <a:p/>
        </p:txBody>
      </p:sp>
      <p:sp>
        <p:nvSpPr>
          <p:cNvPr id="71" name="Google Shape;71;p53"/>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2" name="Shape 72"/>
        <p:cNvGrpSpPr/>
        <p:nvPr/>
      </p:nvGrpSpPr>
      <p:grpSpPr>
        <a:xfrm>
          <a:off x="0" y="0"/>
          <a:ext cx="0" cy="0"/>
          <a:chOff x="0" y="0"/>
          <a:chExt cx="0" cy="0"/>
        </a:xfrm>
      </p:grpSpPr>
      <p:sp>
        <p:nvSpPr>
          <p:cNvPr id="73" name="Google Shape;73;p54"/>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74" name="Shape 74"/>
        <p:cNvGrpSpPr/>
        <p:nvPr/>
      </p:nvGrpSpPr>
      <p:grpSpPr>
        <a:xfrm>
          <a:off x="0" y="0"/>
          <a:ext cx="0" cy="0"/>
          <a:chOff x="0" y="0"/>
          <a:chExt cx="0" cy="0"/>
        </a:xfrm>
      </p:grpSpPr>
      <p:sp>
        <p:nvSpPr>
          <p:cNvPr id="75" name="Google Shape;75;p55"/>
          <p:cNvSpPr txBox="1"/>
          <p:nvPr>
            <p:ph type="title"/>
          </p:nvPr>
        </p:nvSpPr>
        <p:spPr>
          <a:xfrm>
            <a:off x="457200" y="274638"/>
            <a:ext cx="8229600" cy="114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76" name="Google Shape;76;p55"/>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7" name="Shape 77"/>
        <p:cNvGrpSpPr/>
        <p:nvPr/>
      </p:nvGrpSpPr>
      <p:grpSpPr>
        <a:xfrm>
          <a:off x="0" y="0"/>
          <a:ext cx="0" cy="0"/>
          <a:chOff x="0" y="0"/>
          <a:chExt cx="0" cy="0"/>
        </a:xfrm>
      </p:grpSpPr>
      <p:sp>
        <p:nvSpPr>
          <p:cNvPr id="78" name="Google Shape;78;p56"/>
          <p:cNvSpPr txBox="1"/>
          <p:nvPr>
            <p:ph type="title"/>
          </p:nvPr>
        </p:nvSpPr>
        <p:spPr>
          <a:xfrm>
            <a:off x="457200" y="274638"/>
            <a:ext cx="8229600" cy="114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79" name="Google Shape;79;p56"/>
          <p:cNvSpPr txBox="1"/>
          <p:nvPr>
            <p:ph idx="1" type="body"/>
          </p:nvPr>
        </p:nvSpPr>
        <p:spPr>
          <a:xfrm>
            <a:off x="457200" y="1535113"/>
            <a:ext cx="4040100" cy="6396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400"/>
              <a:buFont typeface="Arial"/>
              <a:buNone/>
              <a:defRPr b="1" i="0" sz="2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2000"/>
              <a:buFont typeface="Arial"/>
              <a:buNone/>
              <a:defRPr b="1" i="0" sz="20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800"/>
              <a:buFont typeface="Arial"/>
              <a:buNone/>
              <a:defRPr b="1" i="0" sz="18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9pPr>
          </a:lstStyle>
          <a:p/>
        </p:txBody>
      </p:sp>
      <p:sp>
        <p:nvSpPr>
          <p:cNvPr id="80" name="Google Shape;80;p56"/>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42900" lvl="2" marL="1371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3pPr>
            <a:lvl4pPr indent="-330200" lvl="3" marL="1828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4pPr>
            <a:lvl5pPr indent="-330200" lvl="4" marL="22860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5pPr>
            <a:lvl6pPr indent="-330200" lvl="5" marL="27432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6pPr>
            <a:lvl7pPr indent="-330200" lvl="6" marL="32004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7pPr>
            <a:lvl8pPr indent="-330200" lvl="7" marL="36576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8pPr>
            <a:lvl9pPr indent="-330200" lvl="8" marL="4114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9pPr>
          </a:lstStyle>
          <a:p/>
        </p:txBody>
      </p:sp>
      <p:sp>
        <p:nvSpPr>
          <p:cNvPr id="81" name="Google Shape;81;p56"/>
          <p:cNvSpPr txBox="1"/>
          <p:nvPr>
            <p:ph idx="3" type="body"/>
          </p:nvPr>
        </p:nvSpPr>
        <p:spPr>
          <a:xfrm>
            <a:off x="4645025" y="1535113"/>
            <a:ext cx="4041900" cy="6396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400"/>
              <a:buFont typeface="Arial"/>
              <a:buNone/>
              <a:defRPr b="1" i="0" sz="24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2000"/>
              <a:buFont typeface="Arial"/>
              <a:buNone/>
              <a:defRPr b="1" i="0" sz="20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800"/>
              <a:buFont typeface="Arial"/>
              <a:buNone/>
              <a:defRPr b="1" i="0" sz="18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600"/>
              <a:buFont typeface="Arial"/>
              <a:buNone/>
              <a:defRPr b="1" i="0" sz="1600" u="none" cap="none" strike="noStrike">
                <a:solidFill>
                  <a:srgbClr val="666666"/>
                </a:solidFill>
                <a:latin typeface="Arial"/>
                <a:ea typeface="Arial"/>
                <a:cs typeface="Arial"/>
                <a:sym typeface="Arial"/>
              </a:defRPr>
            </a:lvl9pPr>
          </a:lstStyle>
          <a:p/>
        </p:txBody>
      </p:sp>
      <p:sp>
        <p:nvSpPr>
          <p:cNvPr id="82" name="Google Shape;82;p56"/>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1pPr>
            <a:lvl2pPr indent="-355600" lvl="1" marL="9144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2pPr>
            <a:lvl3pPr indent="-342900" lvl="2" marL="1371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3pPr>
            <a:lvl4pPr indent="-330200" lvl="3" marL="1828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4pPr>
            <a:lvl5pPr indent="-330200" lvl="4" marL="22860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5pPr>
            <a:lvl6pPr indent="-330200" lvl="5" marL="27432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6pPr>
            <a:lvl7pPr indent="-330200" lvl="6" marL="32004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7pPr>
            <a:lvl8pPr indent="-330200" lvl="7" marL="36576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8pPr>
            <a:lvl9pPr indent="-330200" lvl="8" marL="4114800" marR="0" rtl="0" algn="l">
              <a:spcBef>
                <a:spcPts val="400"/>
              </a:spcBef>
              <a:spcAft>
                <a:spcPts val="0"/>
              </a:spcAft>
              <a:buClr>
                <a:srgbClr val="666666"/>
              </a:buClr>
              <a:buSzPts val="1600"/>
              <a:buFont typeface="Arial"/>
              <a:buChar char="»"/>
              <a:defRPr b="0" i="0" sz="1600" u="none" cap="none" strike="noStrike">
                <a:solidFill>
                  <a:srgbClr val="666666"/>
                </a:solidFill>
                <a:latin typeface="Arial"/>
                <a:ea typeface="Arial"/>
                <a:cs typeface="Arial"/>
                <a:sym typeface="Arial"/>
              </a:defRPr>
            </a:lvl9pPr>
          </a:lstStyle>
          <a:p/>
        </p:txBody>
      </p:sp>
      <p:sp>
        <p:nvSpPr>
          <p:cNvPr id="83" name="Google Shape;83;p56"/>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84" name="Shape 84"/>
        <p:cNvGrpSpPr/>
        <p:nvPr/>
      </p:nvGrpSpPr>
      <p:grpSpPr>
        <a:xfrm>
          <a:off x="0" y="0"/>
          <a:ext cx="0" cy="0"/>
          <a:chOff x="0" y="0"/>
          <a:chExt cx="0" cy="0"/>
        </a:xfrm>
      </p:grpSpPr>
      <p:sp>
        <p:nvSpPr>
          <p:cNvPr id="85" name="Google Shape;85;p57"/>
          <p:cNvSpPr txBox="1"/>
          <p:nvPr>
            <p:ph type="title"/>
          </p:nvPr>
        </p:nvSpPr>
        <p:spPr>
          <a:xfrm>
            <a:off x="457200" y="274638"/>
            <a:ext cx="8229600" cy="114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86" name="Google Shape;86;p5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1pPr>
            <a:lvl2pPr indent="-381000" lvl="1" marL="9144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42900" lvl="3" marL="1828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4pPr>
            <a:lvl5pPr indent="-342900" lvl="4" marL="22860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5pPr>
            <a:lvl6pPr indent="-342900" lvl="5" marL="27432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6pPr>
            <a:lvl7pPr indent="-342900" lvl="6" marL="32004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7pPr>
            <a:lvl8pPr indent="-342900" lvl="7" marL="3657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8pPr>
            <a:lvl9pPr indent="-342900" lvl="8" marL="4114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9pPr>
          </a:lstStyle>
          <a:p/>
        </p:txBody>
      </p:sp>
      <p:sp>
        <p:nvSpPr>
          <p:cNvPr id="87" name="Google Shape;87;p5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400"/>
              </a:spcBef>
              <a:spcAft>
                <a:spcPts val="0"/>
              </a:spcAft>
              <a:buClr>
                <a:srgbClr val="666666"/>
              </a:buClr>
              <a:buSzPts val="2800"/>
              <a:buFont typeface="Arial"/>
              <a:buChar char="•"/>
              <a:defRPr b="0" i="0" sz="2800" u="none" cap="none" strike="noStrike">
                <a:solidFill>
                  <a:srgbClr val="666666"/>
                </a:solidFill>
                <a:latin typeface="Arial"/>
                <a:ea typeface="Arial"/>
                <a:cs typeface="Arial"/>
                <a:sym typeface="Arial"/>
              </a:defRPr>
            </a:lvl1pPr>
            <a:lvl2pPr indent="-381000" lvl="1" marL="914400" marR="0" rtl="0" algn="l">
              <a:spcBef>
                <a:spcPts val="400"/>
              </a:spcBef>
              <a:spcAft>
                <a:spcPts val="0"/>
              </a:spcAft>
              <a:buClr>
                <a:srgbClr val="666666"/>
              </a:buClr>
              <a:buSzPts val="2400"/>
              <a:buFont typeface="Arial"/>
              <a:buChar char="–"/>
              <a:defRPr b="0" i="0" sz="2400" u="none" cap="none" strike="noStrike">
                <a:solidFill>
                  <a:srgbClr val="666666"/>
                </a:solidFill>
                <a:latin typeface="Arial"/>
                <a:ea typeface="Arial"/>
                <a:cs typeface="Arial"/>
                <a:sym typeface="Arial"/>
              </a:defRPr>
            </a:lvl2pPr>
            <a:lvl3pPr indent="-355600" lvl="2" marL="1371600" marR="0" rtl="0" algn="l">
              <a:spcBef>
                <a:spcPts val="400"/>
              </a:spcBef>
              <a:spcAft>
                <a:spcPts val="0"/>
              </a:spcAft>
              <a:buClr>
                <a:srgbClr val="666666"/>
              </a:buClr>
              <a:buSzPts val="2000"/>
              <a:buFont typeface="Arial"/>
              <a:buChar char="•"/>
              <a:defRPr b="0" i="0" sz="2000" u="none" cap="none" strike="noStrike">
                <a:solidFill>
                  <a:srgbClr val="666666"/>
                </a:solidFill>
                <a:latin typeface="Arial"/>
                <a:ea typeface="Arial"/>
                <a:cs typeface="Arial"/>
                <a:sym typeface="Arial"/>
              </a:defRPr>
            </a:lvl3pPr>
            <a:lvl4pPr indent="-342900" lvl="3" marL="1828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4pPr>
            <a:lvl5pPr indent="-342900" lvl="4" marL="22860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5pPr>
            <a:lvl6pPr indent="-342900" lvl="5" marL="27432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6pPr>
            <a:lvl7pPr indent="-342900" lvl="6" marL="32004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7pPr>
            <a:lvl8pPr indent="-342900" lvl="7" marL="36576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8pPr>
            <a:lvl9pPr indent="-342900" lvl="8" marL="4114800" marR="0" rtl="0" algn="l">
              <a:spcBef>
                <a:spcPts val="400"/>
              </a:spcBef>
              <a:spcAft>
                <a:spcPts val="0"/>
              </a:spcAft>
              <a:buClr>
                <a:srgbClr val="666666"/>
              </a:buClr>
              <a:buSzPts val="1800"/>
              <a:buFont typeface="Arial"/>
              <a:buChar char="»"/>
              <a:defRPr b="0" i="0" sz="1800" u="none" cap="none" strike="noStrike">
                <a:solidFill>
                  <a:srgbClr val="666666"/>
                </a:solidFill>
                <a:latin typeface="Arial"/>
                <a:ea typeface="Arial"/>
                <a:cs typeface="Arial"/>
                <a:sym typeface="Arial"/>
              </a:defRPr>
            </a:lvl9pPr>
          </a:lstStyle>
          <a:p/>
        </p:txBody>
      </p:sp>
      <p:sp>
        <p:nvSpPr>
          <p:cNvPr id="88" name="Google Shape;88;p57"/>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89" name="Shape 89"/>
        <p:cNvGrpSpPr/>
        <p:nvPr/>
      </p:nvGrpSpPr>
      <p:grpSpPr>
        <a:xfrm>
          <a:off x="0" y="0"/>
          <a:ext cx="0" cy="0"/>
          <a:chOff x="0" y="0"/>
          <a:chExt cx="0" cy="0"/>
        </a:xfrm>
      </p:grpSpPr>
      <p:sp>
        <p:nvSpPr>
          <p:cNvPr id="90" name="Google Shape;90;p58"/>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91" name="Google Shape;91;p58"/>
          <p:cNvSpPr txBox="1"/>
          <p:nvPr>
            <p:ph idx="1" type="body"/>
          </p:nvPr>
        </p:nvSpPr>
        <p:spPr>
          <a:xfrm>
            <a:off x="722313" y="2906713"/>
            <a:ext cx="7772400" cy="150000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1pPr>
            <a:lvl2pPr indent="-228600" lvl="1" marL="914400" marR="0" rtl="0" algn="l">
              <a:spcBef>
                <a:spcPts val="400"/>
              </a:spcBef>
              <a:spcAft>
                <a:spcPts val="0"/>
              </a:spcAft>
              <a:buClr>
                <a:srgbClr val="666666"/>
              </a:buClr>
              <a:buSzPts val="1800"/>
              <a:buFont typeface="Arial"/>
              <a:buNone/>
              <a:defRPr b="0" i="0" sz="1800" u="none" cap="none" strike="noStrike">
                <a:solidFill>
                  <a:srgbClr val="666666"/>
                </a:solidFill>
                <a:latin typeface="Arial"/>
                <a:ea typeface="Arial"/>
                <a:cs typeface="Arial"/>
                <a:sym typeface="Arial"/>
              </a:defRPr>
            </a:lvl2pPr>
            <a:lvl3pPr indent="-228600" lvl="2" marL="1371600" marR="0" rtl="0" algn="l">
              <a:spcBef>
                <a:spcPts val="400"/>
              </a:spcBef>
              <a:spcAft>
                <a:spcPts val="0"/>
              </a:spcAft>
              <a:buClr>
                <a:srgbClr val="666666"/>
              </a:buClr>
              <a:buSzPts val="1600"/>
              <a:buFont typeface="Arial"/>
              <a:buNone/>
              <a:defRPr b="0" i="0" sz="1600" u="none" cap="none" strike="noStrike">
                <a:solidFill>
                  <a:srgbClr val="666666"/>
                </a:solidFill>
                <a:latin typeface="Arial"/>
                <a:ea typeface="Arial"/>
                <a:cs typeface="Arial"/>
                <a:sym typeface="Arial"/>
              </a:defRPr>
            </a:lvl3pPr>
            <a:lvl4pPr indent="-228600" lvl="3" marL="18288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4pPr>
            <a:lvl5pPr indent="-228600" lvl="4" marL="22860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5pPr>
            <a:lvl6pPr indent="-228600" lvl="5" marL="27432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6pPr>
            <a:lvl7pPr indent="-228600" lvl="6" marL="32004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7pPr>
            <a:lvl8pPr indent="-228600" lvl="7" marL="36576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8pPr>
            <a:lvl9pPr indent="-228600" lvl="8" marL="4114800" marR="0" rtl="0" algn="l">
              <a:spcBef>
                <a:spcPts val="400"/>
              </a:spcBef>
              <a:spcAft>
                <a:spcPts val="0"/>
              </a:spcAft>
              <a:buClr>
                <a:srgbClr val="666666"/>
              </a:buClr>
              <a:buSzPts val="1400"/>
              <a:buFont typeface="Arial"/>
              <a:buNone/>
              <a:defRPr b="0" i="0" sz="1400" u="none" cap="none" strike="noStrike">
                <a:solidFill>
                  <a:srgbClr val="666666"/>
                </a:solidFill>
                <a:latin typeface="Arial"/>
                <a:ea typeface="Arial"/>
                <a:cs typeface="Arial"/>
                <a:sym typeface="Arial"/>
              </a:defRPr>
            </a:lvl9pPr>
          </a:lstStyle>
          <a:p/>
        </p:txBody>
      </p:sp>
      <p:sp>
        <p:nvSpPr>
          <p:cNvPr id="92" name="Google Shape;92;p58"/>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93" name="Shape 93"/>
        <p:cNvGrpSpPr/>
        <p:nvPr/>
      </p:nvGrpSpPr>
      <p:grpSpPr>
        <a:xfrm>
          <a:off x="0" y="0"/>
          <a:ext cx="0" cy="0"/>
          <a:chOff x="0" y="0"/>
          <a:chExt cx="0" cy="0"/>
        </a:xfrm>
      </p:grpSpPr>
      <p:sp>
        <p:nvSpPr>
          <p:cNvPr id="94" name="Google Shape;94;p59"/>
          <p:cNvSpPr txBox="1"/>
          <p:nvPr>
            <p:ph type="ctrTitle"/>
          </p:nvPr>
        </p:nvSpPr>
        <p:spPr>
          <a:xfrm>
            <a:off x="685800" y="2130425"/>
            <a:ext cx="7772400" cy="147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sp>
        <p:nvSpPr>
          <p:cNvPr id="95" name="Google Shape;95;p59"/>
          <p:cNvSpPr txBox="1"/>
          <p:nvPr>
            <p:ph idx="1" type="subTitle"/>
          </p:nvPr>
        </p:nvSpPr>
        <p:spPr>
          <a:xfrm>
            <a:off x="1371600" y="3886200"/>
            <a:ext cx="6400800" cy="1752900"/>
          </a:xfrm>
          <a:prstGeom prst="rect">
            <a:avLst/>
          </a:prstGeom>
          <a:noFill/>
          <a:ln>
            <a:noFill/>
          </a:ln>
        </p:spPr>
        <p:txBody>
          <a:bodyPr anchorCtr="0" anchor="t" bIns="45700" lIns="91425" spcFirstLastPara="1" rIns="91425" wrap="square" tIns="45700">
            <a:noAutofit/>
          </a:bodyPr>
          <a:lstStyle>
            <a:lvl1pPr lvl="0"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1pPr>
            <a:lvl2pPr lvl="1"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2pPr>
            <a:lvl3pPr lvl="2"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3pPr>
            <a:lvl4pPr lvl="3"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4pPr>
            <a:lvl5pPr lvl="4"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5pPr>
            <a:lvl6pPr lvl="5"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6pPr>
            <a:lvl7pPr lvl="6"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7pPr>
            <a:lvl8pPr lvl="7"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8pPr>
            <a:lvl9pPr lvl="8" marR="0" rtl="0" algn="ctr">
              <a:spcBef>
                <a:spcPts val="400"/>
              </a:spcBef>
              <a:spcAft>
                <a:spcPts val="0"/>
              </a:spcAft>
              <a:buClr>
                <a:srgbClr val="666666"/>
              </a:buClr>
              <a:buSzPts val="2000"/>
              <a:buFont typeface="Arial"/>
              <a:buNone/>
              <a:defRPr b="0" i="0" sz="2000" u="none" cap="none" strike="noStrike">
                <a:solidFill>
                  <a:srgbClr val="666666"/>
                </a:solidFill>
                <a:latin typeface="Arial"/>
                <a:ea typeface="Arial"/>
                <a:cs typeface="Arial"/>
                <a:sym typeface="Arial"/>
              </a:defRPr>
            </a:lvl9pPr>
          </a:lstStyle>
          <a:p/>
        </p:txBody>
      </p:sp>
      <p:sp>
        <p:nvSpPr>
          <p:cNvPr id="96" name="Google Shape;96;p59"/>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Default">
    <p:bg>
      <p:bgPr>
        <a:solidFill>
          <a:srgbClr val="FFFFFF"/>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0" y="2957512"/>
            <a:ext cx="9144000" cy="6144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1pPr>
            <a:lvl2pPr lvl="1"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2pPr>
            <a:lvl3pPr lvl="2"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3pPr>
            <a:lvl4pPr lvl="3"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4pPr>
            <a:lvl5pPr lvl="4"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5pPr>
            <a:lvl6pPr lvl="5"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6pPr>
            <a:lvl7pPr lvl="6"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7pPr>
            <a:lvl8pPr lvl="7"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8pPr>
            <a:lvl9pPr lvl="8" marR="0" rtl="0" algn="l">
              <a:spcBef>
                <a:spcPts val="0"/>
              </a:spcBef>
              <a:spcAft>
                <a:spcPts val="0"/>
              </a:spcAft>
              <a:buSzPts val="1400"/>
              <a:buNone/>
              <a:defRPr b="0" i="0" sz="4000" u="none" cap="none" strike="noStrike">
                <a:solidFill>
                  <a:srgbClr val="FFFFFF"/>
                </a:solidFill>
                <a:latin typeface="Arial Narrow"/>
                <a:ea typeface="Arial Narrow"/>
                <a:cs typeface="Arial Narrow"/>
                <a:sym typeface="Arial Narrow"/>
              </a:defRPr>
            </a:lvl9pPr>
          </a:lstStyle>
          <a:p/>
        </p:txBody>
      </p:sp>
      <p:pic>
        <p:nvPicPr>
          <p:cNvPr descr="logoblanco.png" id="7" name="Google Shape;7;p36"/>
          <p:cNvPicPr preferRelativeResize="0"/>
          <p:nvPr/>
        </p:nvPicPr>
        <p:blipFill rotWithShape="1">
          <a:blip r:embed="rId1">
            <a:alphaModFix/>
          </a:blip>
          <a:srcRect b="0" l="0" r="0" t="0"/>
          <a:stretch/>
        </p:blipFill>
        <p:spPr>
          <a:xfrm>
            <a:off x="7475537" y="3106737"/>
            <a:ext cx="916782" cy="29170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grpSp>
        <p:nvGrpSpPr>
          <p:cNvPr id="45" name="Google Shape;45;p38"/>
          <p:cNvGrpSpPr/>
          <p:nvPr/>
        </p:nvGrpSpPr>
        <p:grpSpPr>
          <a:xfrm>
            <a:off x="0" y="6402387"/>
            <a:ext cx="9150783" cy="463556"/>
            <a:chOff x="0" y="0"/>
            <a:chExt cx="9151698" cy="464252"/>
          </a:xfrm>
        </p:grpSpPr>
        <p:sp>
          <p:nvSpPr>
            <p:cNvPr id="46" name="Google Shape;46;p38"/>
            <p:cNvSpPr txBox="1"/>
            <p:nvPr/>
          </p:nvSpPr>
          <p:spPr>
            <a:xfrm>
              <a:off x="0" y="0"/>
              <a:ext cx="9151698" cy="464252"/>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cxnSp>
          <p:nvCxnSpPr>
            <p:cNvPr id="47" name="Google Shape;47;p38"/>
            <p:cNvCxnSpPr/>
            <p:nvPr/>
          </p:nvCxnSpPr>
          <p:spPr>
            <a:xfrm flipH="1" rot="10800000">
              <a:off x="8453095" y="174889"/>
              <a:ext cx="1588" cy="136732"/>
            </a:xfrm>
            <a:prstGeom prst="straightConnector1">
              <a:avLst/>
            </a:prstGeom>
            <a:noFill/>
            <a:ln cap="flat" cmpd="sng" w="9525">
              <a:solidFill>
                <a:srgbClr val="FFFFFF"/>
              </a:solidFill>
              <a:prstDash val="solid"/>
              <a:miter lim="800000"/>
              <a:headEnd len="med" w="med" type="none"/>
              <a:tailEnd len="med" w="med" type="none"/>
            </a:ln>
          </p:spPr>
        </p:cxnSp>
      </p:grpSp>
      <p:sp>
        <p:nvSpPr>
          <p:cNvPr id="48" name="Google Shape;48;p38"/>
          <p:cNvSpPr txBox="1"/>
          <p:nvPr>
            <p:ph idx="12" type="sldNum"/>
          </p:nvPr>
        </p:nvSpPr>
        <p:spPr>
          <a:xfrm>
            <a:off x="8485187" y="6559550"/>
            <a:ext cx="273000" cy="173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pic>
        <p:nvPicPr>
          <p:cNvPr id="49" name="Google Shape;49;p38"/>
          <p:cNvPicPr preferRelativeResize="0"/>
          <p:nvPr/>
        </p:nvPicPr>
        <p:blipFill rotWithShape="1">
          <a:blip r:embed="rId1">
            <a:alphaModFix/>
          </a:blip>
          <a:srcRect b="0" l="0" r="0" t="0"/>
          <a:stretch/>
        </p:blipFill>
        <p:spPr>
          <a:xfrm>
            <a:off x="179387" y="6402387"/>
            <a:ext cx="1254920" cy="3417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www.youtube.com/watch?v=tn3qyLNHNf8" TargetMode="External"/><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1"/>
          <p:cNvSpPr txBox="1"/>
          <p:nvPr/>
        </p:nvSpPr>
        <p:spPr>
          <a:xfrm>
            <a:off x="0" y="901287"/>
            <a:ext cx="9144000" cy="133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02" name="Google Shape;102;p1"/>
          <p:cNvSpPr txBox="1"/>
          <p:nvPr/>
        </p:nvSpPr>
        <p:spPr>
          <a:xfrm>
            <a:off x="984175" y="4019650"/>
            <a:ext cx="6900900" cy="495300"/>
          </a:xfrm>
          <a:prstGeom prst="rect">
            <a:avLst/>
          </a:prstGeom>
          <a:noFill/>
          <a:ln>
            <a:noFill/>
          </a:ln>
        </p:spPr>
        <p:txBody>
          <a:bodyPr anchorCtr="0" anchor="t" bIns="0" lIns="0" spcFirstLastPara="1" rIns="0" wrap="square" tIns="0">
            <a:noAutofit/>
          </a:bodyPr>
          <a:lstStyle/>
          <a:p>
            <a:pPr indent="0" lvl="0" marL="0" marR="0" rtl="0" algn="r">
              <a:lnSpc>
                <a:spcPct val="150000"/>
              </a:lnSpc>
              <a:spcBef>
                <a:spcPts val="0"/>
              </a:spcBef>
              <a:spcAft>
                <a:spcPts val="0"/>
              </a:spcAft>
              <a:buClr>
                <a:srgbClr val="0098CD"/>
              </a:buClr>
              <a:buSzPts val="2400"/>
              <a:buFont typeface="Arial"/>
              <a:buNone/>
            </a:pPr>
            <a:r>
              <a:rPr b="1" lang="en-US" sz="1600"/>
              <a:t>Presentado por:</a:t>
            </a:r>
            <a:endParaRPr b="1" sz="1600"/>
          </a:p>
          <a:p>
            <a:pPr indent="0" lvl="0" marL="0" marR="0" rtl="0" algn="r">
              <a:lnSpc>
                <a:spcPct val="150000"/>
              </a:lnSpc>
              <a:spcBef>
                <a:spcPts val="0"/>
              </a:spcBef>
              <a:spcAft>
                <a:spcPts val="0"/>
              </a:spcAft>
              <a:buClr>
                <a:srgbClr val="0098CD"/>
              </a:buClr>
              <a:buSzPts val="2400"/>
              <a:buFont typeface="Arial"/>
              <a:buNone/>
            </a:pPr>
            <a:r>
              <a:rPr lang="en-US" sz="1600"/>
              <a:t>Marco Paúl Gutama</a:t>
            </a:r>
            <a:endParaRPr sz="1600"/>
          </a:p>
          <a:p>
            <a:pPr indent="0" lvl="0" marL="0" marR="0" rtl="0" algn="r">
              <a:lnSpc>
                <a:spcPct val="150000"/>
              </a:lnSpc>
              <a:spcBef>
                <a:spcPts val="0"/>
              </a:spcBef>
              <a:spcAft>
                <a:spcPts val="0"/>
              </a:spcAft>
              <a:buClr>
                <a:srgbClr val="0098CD"/>
              </a:buClr>
              <a:buSzPts val="2400"/>
              <a:buFont typeface="Arial"/>
              <a:buNone/>
            </a:pPr>
            <a:r>
              <a:rPr lang="en-US" sz="1600"/>
              <a:t>Jonnathan Esteban Peñaranda</a:t>
            </a:r>
            <a:endParaRPr sz="1600"/>
          </a:p>
        </p:txBody>
      </p:sp>
      <p:pic>
        <p:nvPicPr>
          <p:cNvPr id="103" name="Google Shape;103;p1"/>
          <p:cNvPicPr preferRelativeResize="0"/>
          <p:nvPr/>
        </p:nvPicPr>
        <p:blipFill rotWithShape="1">
          <a:blip r:embed="rId3">
            <a:alphaModFix/>
          </a:blip>
          <a:srcRect b="0" l="0" r="0" t="0"/>
          <a:stretch/>
        </p:blipFill>
        <p:spPr>
          <a:xfrm>
            <a:off x="467550" y="115850"/>
            <a:ext cx="1872853" cy="509587"/>
          </a:xfrm>
          <a:prstGeom prst="rect">
            <a:avLst/>
          </a:prstGeom>
          <a:noFill/>
          <a:ln>
            <a:noFill/>
          </a:ln>
        </p:spPr>
      </p:pic>
      <p:sp>
        <p:nvSpPr>
          <p:cNvPr id="104" name="Google Shape;104;p1"/>
          <p:cNvSpPr txBox="1"/>
          <p:nvPr/>
        </p:nvSpPr>
        <p:spPr>
          <a:xfrm>
            <a:off x="5507862" y="320637"/>
            <a:ext cx="3168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98CD"/>
              </a:buClr>
              <a:buSzPts val="1300"/>
              <a:buFont typeface="Arial"/>
              <a:buNone/>
            </a:pPr>
            <a:r>
              <a:rPr b="0" i="0" lang="en-US" sz="1300" u="none">
                <a:solidFill>
                  <a:srgbClr val="0098CD"/>
                </a:solidFill>
                <a:latin typeface="Arial"/>
                <a:ea typeface="Arial"/>
                <a:cs typeface="Arial"/>
                <a:sym typeface="Arial"/>
              </a:rPr>
              <a:t>Universidad Internacional de La Rioja</a:t>
            </a:r>
            <a:endParaRPr/>
          </a:p>
        </p:txBody>
      </p:sp>
      <p:sp>
        <p:nvSpPr>
          <p:cNvPr id="105" name="Google Shape;105;p1"/>
          <p:cNvSpPr txBox="1"/>
          <p:nvPr>
            <p:ph type="title"/>
          </p:nvPr>
        </p:nvSpPr>
        <p:spPr>
          <a:xfrm>
            <a:off x="1180850" y="1453350"/>
            <a:ext cx="6979200" cy="15057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98CD"/>
              </a:buClr>
              <a:buSzPts val="2400"/>
              <a:buFont typeface="Arial"/>
              <a:buNone/>
            </a:pPr>
            <a:r>
              <a:rPr b="1" lang="en-US" sz="2800">
                <a:solidFill>
                  <a:srgbClr val="0098CD"/>
                </a:solidFill>
                <a:latin typeface="Arial"/>
                <a:ea typeface="Arial"/>
                <a:cs typeface="Arial"/>
                <a:sym typeface="Arial"/>
              </a:rPr>
              <a:t>Detección y mitigación de vulnerabilidades en microservicios Java mediante la integración de IA en pipelines CI/CD</a:t>
            </a:r>
            <a:endParaRPr b="1" sz="4400"/>
          </a:p>
        </p:txBody>
      </p:sp>
      <p:sp>
        <p:nvSpPr>
          <p:cNvPr id="106" name="Google Shape;106;p1"/>
          <p:cNvSpPr txBox="1"/>
          <p:nvPr/>
        </p:nvSpPr>
        <p:spPr>
          <a:xfrm>
            <a:off x="573162" y="5915750"/>
            <a:ext cx="7997700" cy="6465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1" lang="en-US" sz="1800">
                <a:solidFill>
                  <a:srgbClr val="0098CD"/>
                </a:solidFill>
                <a:latin typeface="Arial "/>
                <a:ea typeface="Arial "/>
                <a:cs typeface="Arial "/>
                <a:sym typeface="Arial "/>
              </a:rPr>
              <a:t>Logroño - 10 de Noviembre </a:t>
            </a:r>
            <a:endParaRPr b="1" sz="1800">
              <a:solidFill>
                <a:srgbClr val="0098CD"/>
              </a:solidFill>
              <a:latin typeface="Arial "/>
              <a:ea typeface="Arial "/>
              <a:cs typeface="Arial "/>
              <a:sym typeface="Arial "/>
            </a:endParaRPr>
          </a:p>
          <a:p>
            <a:pPr indent="0" lvl="0" marL="0" marR="0" rtl="0" algn="ctr">
              <a:lnSpc>
                <a:spcPct val="100000"/>
              </a:lnSpc>
              <a:spcBef>
                <a:spcPts val="0"/>
              </a:spcBef>
              <a:spcAft>
                <a:spcPts val="0"/>
              </a:spcAft>
              <a:buNone/>
            </a:pPr>
            <a:r>
              <a:rPr lang="en-US" sz="1800">
                <a:solidFill>
                  <a:srgbClr val="0098CD"/>
                </a:solidFill>
                <a:latin typeface="Arial "/>
                <a:ea typeface="Arial "/>
                <a:cs typeface="Arial "/>
                <a:sym typeface="Arial "/>
              </a:rPr>
              <a:t>2025</a:t>
            </a:r>
            <a:endParaRPr b="0" i="0" sz="1800" u="none">
              <a:solidFill>
                <a:srgbClr val="0098CD"/>
              </a:solidFill>
              <a:latin typeface="Arial "/>
              <a:ea typeface="Arial "/>
              <a:cs typeface="Arial "/>
              <a:sym typeface="Arial "/>
            </a:endParaRPr>
          </a:p>
        </p:txBody>
      </p:sp>
      <p:sp>
        <p:nvSpPr>
          <p:cNvPr id="107" name="Google Shape;107;p1"/>
          <p:cNvSpPr txBox="1"/>
          <p:nvPr/>
        </p:nvSpPr>
        <p:spPr>
          <a:xfrm>
            <a:off x="1301950" y="4935350"/>
            <a:ext cx="6582900" cy="42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98CD"/>
              </a:buClr>
              <a:buSzPts val="2400"/>
              <a:buFont typeface="Arial"/>
              <a:buNone/>
            </a:pPr>
            <a:r>
              <a:rPr b="1" lang="en-US" sz="1600"/>
              <a:t>Tutor:</a:t>
            </a:r>
            <a:endParaRPr b="1" sz="1600"/>
          </a:p>
          <a:p>
            <a:pPr indent="0" lvl="0" marL="0" marR="0" rtl="0" algn="l">
              <a:lnSpc>
                <a:spcPct val="150000"/>
              </a:lnSpc>
              <a:spcBef>
                <a:spcPts val="0"/>
              </a:spcBef>
              <a:spcAft>
                <a:spcPts val="0"/>
              </a:spcAft>
              <a:buClr>
                <a:srgbClr val="0098CD"/>
              </a:buClr>
              <a:buSzPts val="2400"/>
              <a:buFont typeface="Arial"/>
              <a:buNone/>
            </a:pPr>
            <a:r>
              <a:rPr lang="en-US" sz="1600"/>
              <a:t>Ing. Óscar Sanjuán</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13" name="Google Shape;113;p2"/>
          <p:cNvSpPr txBox="1"/>
          <p:nvPr/>
        </p:nvSpPr>
        <p:spPr>
          <a:xfrm>
            <a:off x="419100" y="255587"/>
            <a:ext cx="56151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
              <a:buNone/>
            </a:pPr>
            <a:r>
              <a:rPr b="1" i="0" lang="en-US" sz="2800" u="none">
                <a:solidFill>
                  <a:srgbClr val="0098CD"/>
                </a:solidFill>
                <a:latin typeface="Arial "/>
                <a:ea typeface="Arial "/>
                <a:cs typeface="Arial "/>
                <a:sym typeface="Arial "/>
              </a:rPr>
              <a:t>Contenid</a:t>
            </a:r>
            <a:r>
              <a:rPr b="1" lang="en-US" sz="2800">
                <a:solidFill>
                  <a:srgbClr val="0098CD"/>
                </a:solidFill>
                <a:latin typeface="Arial "/>
                <a:ea typeface="Arial "/>
                <a:cs typeface="Arial "/>
                <a:sym typeface="Arial "/>
              </a:rPr>
              <a:t>o</a:t>
            </a:r>
            <a:endParaRPr b="1"/>
          </a:p>
        </p:txBody>
      </p:sp>
      <p:sp>
        <p:nvSpPr>
          <p:cNvPr id="114" name="Google Shape;114;p2"/>
          <p:cNvSpPr txBox="1"/>
          <p:nvPr/>
        </p:nvSpPr>
        <p:spPr>
          <a:xfrm>
            <a:off x="512750" y="1190662"/>
            <a:ext cx="7997700" cy="4710000"/>
          </a:xfrm>
          <a:prstGeom prst="rect">
            <a:avLst/>
          </a:prstGeom>
          <a:noFill/>
          <a:ln>
            <a:noFill/>
          </a:ln>
        </p:spPr>
        <p:txBody>
          <a:bodyPr anchorCtr="0" anchor="t" bIns="45700" lIns="45700" spcFirstLastPara="1" rIns="45700" wrap="square" tIns="45700">
            <a:spAutoFit/>
          </a:bodyPr>
          <a:lstStyle/>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1. Introducción.</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
              <a:buChar char="►"/>
            </a:pPr>
            <a:r>
              <a:rPr lang="en-US" sz="2000">
                <a:solidFill>
                  <a:srgbClr val="0098CD"/>
                </a:solidFill>
                <a:latin typeface="Arial "/>
                <a:ea typeface="Arial "/>
                <a:cs typeface="Arial "/>
                <a:sym typeface="Arial "/>
              </a:rPr>
              <a:t>2</a:t>
            </a:r>
            <a:r>
              <a:rPr lang="en-US" sz="2000">
                <a:solidFill>
                  <a:srgbClr val="0098CD"/>
                </a:solidFill>
                <a:latin typeface="Arial "/>
                <a:ea typeface="Arial "/>
                <a:cs typeface="Arial "/>
                <a:sym typeface="Arial "/>
              </a:rPr>
              <a:t>. Estado del arte.</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3</a:t>
            </a:r>
            <a:r>
              <a:rPr lang="en-US" sz="2000">
                <a:solidFill>
                  <a:srgbClr val="0098CD"/>
                </a:solidFill>
                <a:latin typeface="Arial "/>
                <a:ea typeface="Arial "/>
                <a:cs typeface="Arial "/>
                <a:sym typeface="Arial "/>
              </a:rPr>
              <a:t>. La Solución Propuesta.</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4. Objetivos</a:t>
            </a:r>
            <a:r>
              <a:rPr lang="en-US" sz="2000">
                <a:solidFill>
                  <a:srgbClr val="0098CD"/>
                </a:solidFill>
                <a:latin typeface="Arial "/>
                <a:ea typeface="Arial "/>
                <a:cs typeface="Arial "/>
                <a:sym typeface="Arial "/>
              </a:rPr>
              <a:t>.</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5</a:t>
            </a:r>
            <a:r>
              <a:rPr lang="en-US" sz="2000">
                <a:solidFill>
                  <a:srgbClr val="0098CD"/>
                </a:solidFill>
                <a:latin typeface="Arial "/>
                <a:ea typeface="Arial "/>
                <a:cs typeface="Arial "/>
                <a:sym typeface="Arial "/>
              </a:rPr>
              <a:t>. Arquitectura e Implementación.</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6. Evaluación y Resultados.</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7. Video Demostrativo.</a:t>
            </a:r>
            <a:endParaRPr sz="2000">
              <a:solidFill>
                <a:srgbClr val="0098CD"/>
              </a:solidFill>
              <a:latin typeface="Arial "/>
              <a:ea typeface="Arial "/>
              <a:cs typeface="Arial "/>
              <a:sym typeface="Arial "/>
            </a:endParaRPr>
          </a:p>
          <a:p>
            <a:pPr indent="-292100" lvl="0" marL="457200" rtl="0" algn="l">
              <a:lnSpc>
                <a:spcPct val="200000"/>
              </a:lnSpc>
              <a:spcBef>
                <a:spcPts val="0"/>
              </a:spcBef>
              <a:spcAft>
                <a:spcPts val="0"/>
              </a:spcAft>
              <a:buClr>
                <a:srgbClr val="0098CD"/>
              </a:buClr>
              <a:buSzPts val="1000"/>
              <a:buFont typeface="Arial Narrow"/>
              <a:buChar char="►"/>
            </a:pPr>
            <a:r>
              <a:rPr lang="en-US" sz="2000">
                <a:solidFill>
                  <a:srgbClr val="0098CD"/>
                </a:solidFill>
                <a:latin typeface="Arial "/>
                <a:ea typeface="Arial "/>
                <a:cs typeface="Arial "/>
                <a:sym typeface="Arial "/>
              </a:rPr>
              <a:t>8. Conclusiones y Trabajo Futuro.</a:t>
            </a:r>
            <a:endParaRPr b="0" i="0" sz="2000" u="none">
              <a:solidFill>
                <a:srgbClr val="0098CD"/>
              </a:solidFill>
              <a:latin typeface="Arial "/>
              <a:ea typeface="Arial "/>
              <a:cs typeface="Arial "/>
              <a:sym typeface="Arial "/>
            </a:endParaRPr>
          </a:p>
        </p:txBody>
      </p:sp>
      <p:sp>
        <p:nvSpPr>
          <p:cNvPr id="115" name="Google Shape;115;p2"/>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21" name="Google Shape;121;p3"/>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406400" lvl="0" marL="457200" marR="0" rtl="0" algn="l">
              <a:lnSpc>
                <a:spcPct val="100000"/>
              </a:lnSpc>
              <a:spcBef>
                <a:spcPts val="0"/>
              </a:spcBef>
              <a:spcAft>
                <a:spcPts val="0"/>
              </a:spcAft>
              <a:buClr>
                <a:srgbClr val="0098CD"/>
              </a:buClr>
              <a:buSzPts val="2800"/>
              <a:buAutoNum type="arabicPeriod"/>
            </a:pPr>
            <a:r>
              <a:rPr b="1" lang="en-US" sz="2800">
                <a:solidFill>
                  <a:srgbClr val="0098CD"/>
                </a:solidFill>
              </a:rPr>
              <a:t>Introducción</a:t>
            </a:r>
            <a:endParaRPr b="1"/>
          </a:p>
        </p:txBody>
      </p:sp>
      <p:sp>
        <p:nvSpPr>
          <p:cNvPr id="122" name="Google Shape;122;p3"/>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23" name="Google Shape;123;p3"/>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24" name="Google Shape;124;p3"/>
          <p:cNvSpPr txBox="1"/>
          <p:nvPr/>
        </p:nvSpPr>
        <p:spPr>
          <a:xfrm>
            <a:off x="446075" y="1406429"/>
            <a:ext cx="8312400" cy="23397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La Paradoja de la Velocidad en CI/CD</a:t>
            </a:r>
            <a:endParaRPr b="1" sz="2000">
              <a:solidFill>
                <a:srgbClr val="535353"/>
              </a:solidFill>
            </a:endParaRPr>
          </a:p>
          <a:p>
            <a:pPr indent="0" lvl="0" marL="0" rtl="0" algn="l">
              <a:spcBef>
                <a:spcPts val="0"/>
              </a:spcBef>
              <a:spcAft>
                <a:spcPts val="0"/>
              </a:spcAft>
              <a:buNone/>
            </a:pPr>
            <a:r>
              <a:rPr b="1" lang="en-US" sz="1800">
                <a:solidFill>
                  <a:srgbClr val="535353"/>
                </a:solidFill>
              </a:rPr>
              <a:t> </a:t>
            </a:r>
            <a:endParaRPr b="1"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La promesa de DevOps: </a:t>
            </a:r>
            <a:r>
              <a:rPr lang="en-US" sz="1800">
                <a:solidFill>
                  <a:srgbClr val="535353"/>
                </a:solidFill>
              </a:rPr>
              <a:t>Entregar valor de forma rápida y continua.</a:t>
            </a:r>
            <a:endParaRPr sz="1800">
              <a:solidFill>
                <a:srgbClr val="535353"/>
              </a:solidFill>
            </a:endParaRPr>
          </a:p>
          <a:p>
            <a:pPr indent="0" lvl="0" marL="4572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La realidad de la Seguridad:</a:t>
            </a:r>
            <a:r>
              <a:rPr lang="en-US" sz="1800">
                <a:solidFill>
                  <a:srgbClr val="535353"/>
                </a:solidFill>
              </a:rPr>
              <a:t> Cada despliegue es un riesgo potencial.</a:t>
            </a:r>
            <a:endParaRPr sz="1800">
              <a:solidFill>
                <a:srgbClr val="535353"/>
              </a:solidFill>
            </a:endParaRPr>
          </a:p>
          <a:p>
            <a:pPr indent="0" lvl="0" marL="4572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Conflicto: </a:t>
            </a:r>
            <a:r>
              <a:rPr lang="en-US" sz="1800">
                <a:solidFill>
                  <a:srgbClr val="535353"/>
                </a:solidFill>
              </a:rPr>
              <a:t>¿Cómo mantenemos la velocidad sin acumular una deuda de seguridad impagable?</a:t>
            </a:r>
            <a:endParaRPr sz="1800">
              <a:solidFill>
                <a:srgbClr val="535353"/>
              </a:solidFill>
            </a:endParaRPr>
          </a:p>
        </p:txBody>
      </p:sp>
      <p:pic>
        <p:nvPicPr>
          <p:cNvPr id="125" name="Google Shape;125;p3" title="Gemini_Generated_Image_jjpqt2jjpqt2jjpq.png"/>
          <p:cNvPicPr preferRelativeResize="0"/>
          <p:nvPr/>
        </p:nvPicPr>
        <p:blipFill rotWithShape="1">
          <a:blip r:embed="rId3">
            <a:alphaModFix/>
          </a:blip>
          <a:srcRect b="32600" l="0" r="0" t="31217"/>
          <a:stretch/>
        </p:blipFill>
        <p:spPr>
          <a:xfrm>
            <a:off x="1576400" y="3885029"/>
            <a:ext cx="6051750" cy="2189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8191dd263d_0_70"/>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31" name="Google Shape;131;g38191dd263d_0_70"/>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406400" lvl="0" marL="457200" marR="0" rtl="0" algn="l">
              <a:lnSpc>
                <a:spcPct val="100000"/>
              </a:lnSpc>
              <a:spcBef>
                <a:spcPts val="0"/>
              </a:spcBef>
              <a:spcAft>
                <a:spcPts val="0"/>
              </a:spcAft>
              <a:buClr>
                <a:srgbClr val="0098CD"/>
              </a:buClr>
              <a:buSzPts val="2800"/>
              <a:buAutoNum type="arabicPeriod"/>
            </a:pPr>
            <a:r>
              <a:rPr b="1" lang="en-US" sz="2800">
                <a:solidFill>
                  <a:srgbClr val="0098CD"/>
                </a:solidFill>
              </a:rPr>
              <a:t>Introducción</a:t>
            </a:r>
            <a:endParaRPr b="1"/>
          </a:p>
        </p:txBody>
      </p:sp>
      <p:sp>
        <p:nvSpPr>
          <p:cNvPr id="132" name="Google Shape;132;g38191dd263d_0_70"/>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33" name="Google Shape;133;g38191dd263d_0_70"/>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34" name="Google Shape;134;g38191dd263d_0_70"/>
          <p:cNvSpPr txBox="1"/>
          <p:nvPr/>
        </p:nvSpPr>
        <p:spPr>
          <a:xfrm>
            <a:off x="446075" y="1406429"/>
            <a:ext cx="9012300" cy="6771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La Fatiga por Alertas: Un Problema de Flujo</a:t>
            </a:r>
            <a:endParaRPr b="1" sz="2000">
              <a:solidFill>
                <a:srgbClr val="535353"/>
              </a:solidFill>
            </a:endParaRPr>
          </a:p>
          <a:p>
            <a:pPr indent="0" lvl="0" marL="0" rtl="0" algn="l">
              <a:spcBef>
                <a:spcPts val="0"/>
              </a:spcBef>
              <a:spcAft>
                <a:spcPts val="0"/>
              </a:spcAft>
              <a:buNone/>
            </a:pPr>
            <a:r>
              <a:rPr b="1" lang="en-US" sz="1800">
                <a:solidFill>
                  <a:srgbClr val="535353"/>
                </a:solidFill>
              </a:rPr>
              <a:t> </a:t>
            </a:r>
            <a:endParaRPr sz="1800">
              <a:solidFill>
                <a:srgbClr val="535353"/>
              </a:solidFill>
            </a:endParaRPr>
          </a:p>
        </p:txBody>
      </p:sp>
      <p:pic>
        <p:nvPicPr>
          <p:cNvPr id="135" name="Google Shape;135;g38191dd263d_0_70" title="Gemini_Generated_Image_agtc8iagtc8iagtc.png"/>
          <p:cNvPicPr preferRelativeResize="0"/>
          <p:nvPr/>
        </p:nvPicPr>
        <p:blipFill rotWithShape="1">
          <a:blip r:embed="rId3">
            <a:alphaModFix/>
          </a:blip>
          <a:srcRect b="18495" l="5133" r="5898" t="22241"/>
          <a:stretch/>
        </p:blipFill>
        <p:spPr>
          <a:xfrm>
            <a:off x="5720842" y="3137704"/>
            <a:ext cx="2899351" cy="1931200"/>
          </a:xfrm>
          <a:prstGeom prst="rect">
            <a:avLst/>
          </a:prstGeom>
          <a:noFill/>
          <a:ln>
            <a:noFill/>
          </a:ln>
        </p:spPr>
      </p:pic>
      <p:sp>
        <p:nvSpPr>
          <p:cNvPr id="136" name="Google Shape;136;g38191dd263d_0_70"/>
          <p:cNvSpPr txBox="1"/>
          <p:nvPr/>
        </p:nvSpPr>
        <p:spPr>
          <a:xfrm>
            <a:off x="446075" y="2022704"/>
            <a:ext cx="5535000" cy="42483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b="1" lang="en-US" sz="1800">
                <a:solidFill>
                  <a:srgbClr val="535353"/>
                </a:solidFill>
              </a:rPr>
              <a:t>9:00 AM: </a:t>
            </a:r>
            <a:r>
              <a:rPr lang="en-US" sz="1800">
                <a:solidFill>
                  <a:srgbClr val="535353"/>
                </a:solidFill>
              </a:rPr>
              <a:t>Un desarrollador hace </a:t>
            </a:r>
            <a:r>
              <a:rPr i="1" lang="en-US" sz="1800">
                <a:solidFill>
                  <a:srgbClr val="0098CD"/>
                </a:solidFill>
                <a:latin typeface="Courier New"/>
                <a:ea typeface="Courier New"/>
                <a:cs typeface="Courier New"/>
                <a:sym typeface="Courier New"/>
              </a:rPr>
              <a:t>commit</a:t>
            </a:r>
            <a:r>
              <a:rPr lang="en-US" sz="1800">
                <a:solidFill>
                  <a:srgbClr val="535353"/>
                </a:solidFill>
              </a:rPr>
              <a:t> de su trabajo</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9:05 AM: </a:t>
            </a:r>
            <a:r>
              <a:rPr lang="en-US" sz="1800">
                <a:solidFill>
                  <a:srgbClr val="535353"/>
                </a:solidFill>
              </a:rPr>
              <a:t>El pipeline de CI ejecuta un escáner SAST que genera 75 alertas de seguridad.</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Conflicto: </a:t>
            </a:r>
            <a:r>
              <a:rPr lang="en-US" sz="1800">
                <a:solidFill>
                  <a:srgbClr val="535353"/>
                </a:solidFill>
              </a:rPr>
              <a:t>¿Cómo mantenemos la velocidad sin acumular una deuda de seguridad impagable?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Dilema:</a:t>
            </a:r>
            <a:r>
              <a:rPr lang="en-US" sz="1800">
                <a:solidFill>
                  <a:srgbClr val="535353"/>
                </a:solidFill>
              </a:rPr>
              <a:t> ¿Qué es crítico? ¿Qué es un falso positivo? ¿Cómo se corrige?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Resultado: </a:t>
            </a:r>
            <a:r>
              <a:rPr lang="en-US" sz="1800">
                <a:solidFill>
                  <a:srgbClr val="535353"/>
                </a:solidFill>
              </a:rPr>
              <a:t>La investigación manual consume horas, rompe el flujo y genera frustración.</a:t>
            </a:r>
            <a:endParaRPr sz="1800">
              <a:solidFill>
                <a:srgbClr val="53535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8191dd263d_0_82"/>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42" name="Google Shape;142;g38191dd263d_0_82"/>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406400" lvl="0" marL="457200" marR="0" rtl="0" algn="l">
              <a:lnSpc>
                <a:spcPct val="100000"/>
              </a:lnSpc>
              <a:spcBef>
                <a:spcPts val="0"/>
              </a:spcBef>
              <a:spcAft>
                <a:spcPts val="0"/>
              </a:spcAft>
              <a:buClr>
                <a:srgbClr val="0098CD"/>
              </a:buClr>
              <a:buSzPts val="2800"/>
              <a:buAutoNum type="arabicPeriod"/>
            </a:pPr>
            <a:r>
              <a:rPr b="1" lang="en-US" sz="2800">
                <a:solidFill>
                  <a:srgbClr val="0098CD"/>
                </a:solidFill>
              </a:rPr>
              <a:t>Introducción</a:t>
            </a:r>
            <a:endParaRPr b="1"/>
          </a:p>
        </p:txBody>
      </p:sp>
      <p:sp>
        <p:nvSpPr>
          <p:cNvPr id="143" name="Google Shape;143;g38191dd263d_0_82"/>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44" name="Google Shape;144;g38191dd263d_0_82"/>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45" name="Google Shape;145;g38191dd263d_0_82"/>
          <p:cNvSpPr txBox="1"/>
          <p:nvPr/>
        </p:nvSpPr>
        <p:spPr>
          <a:xfrm>
            <a:off x="446075" y="1406429"/>
            <a:ext cx="9012300" cy="6771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La Fatiga por Alertas: Un Problema de Flujo</a:t>
            </a:r>
            <a:endParaRPr b="1" sz="2000">
              <a:solidFill>
                <a:srgbClr val="535353"/>
              </a:solidFill>
            </a:endParaRPr>
          </a:p>
          <a:p>
            <a:pPr indent="0" lvl="0" marL="0" rtl="0" algn="l">
              <a:spcBef>
                <a:spcPts val="0"/>
              </a:spcBef>
              <a:spcAft>
                <a:spcPts val="0"/>
              </a:spcAft>
              <a:buNone/>
            </a:pPr>
            <a:r>
              <a:rPr b="1" lang="en-US" sz="1800">
                <a:solidFill>
                  <a:srgbClr val="535353"/>
                </a:solidFill>
              </a:rPr>
              <a:t> </a:t>
            </a:r>
            <a:endParaRPr sz="1800">
              <a:solidFill>
                <a:srgbClr val="535353"/>
              </a:solidFill>
            </a:endParaRPr>
          </a:p>
        </p:txBody>
      </p:sp>
      <p:pic>
        <p:nvPicPr>
          <p:cNvPr id="146" name="Google Shape;146;g38191dd263d_0_82" title="Gemini_Generated_Image_agtc8iagtc8iagtc.png"/>
          <p:cNvPicPr preferRelativeResize="0"/>
          <p:nvPr/>
        </p:nvPicPr>
        <p:blipFill rotWithShape="1">
          <a:blip r:embed="rId3">
            <a:alphaModFix/>
          </a:blip>
          <a:srcRect b="18495" l="5133" r="5898" t="22241"/>
          <a:stretch/>
        </p:blipFill>
        <p:spPr>
          <a:xfrm>
            <a:off x="5669200" y="3282300"/>
            <a:ext cx="2899351" cy="1931200"/>
          </a:xfrm>
          <a:prstGeom prst="rect">
            <a:avLst/>
          </a:prstGeom>
          <a:noFill/>
          <a:ln>
            <a:noFill/>
          </a:ln>
        </p:spPr>
      </p:pic>
      <p:pic>
        <p:nvPicPr>
          <p:cNvPr id="147" name="Google Shape;147;g38191dd263d_0_82" title="Gemini_Generated_Image_z7wcabz7wcabz7wc.png"/>
          <p:cNvPicPr preferRelativeResize="0"/>
          <p:nvPr/>
        </p:nvPicPr>
        <p:blipFill rotWithShape="1">
          <a:blip r:embed="rId4">
            <a:alphaModFix/>
          </a:blip>
          <a:srcRect b="23451" l="0" r="0" t="25665"/>
          <a:stretch/>
        </p:blipFill>
        <p:spPr>
          <a:xfrm>
            <a:off x="5782800" y="3137704"/>
            <a:ext cx="3530601" cy="1796549"/>
          </a:xfrm>
          <a:prstGeom prst="rect">
            <a:avLst/>
          </a:prstGeom>
          <a:noFill/>
          <a:ln>
            <a:noFill/>
          </a:ln>
        </p:spPr>
      </p:pic>
      <p:sp>
        <p:nvSpPr>
          <p:cNvPr id="148" name="Google Shape;148;g38191dd263d_0_82"/>
          <p:cNvSpPr txBox="1"/>
          <p:nvPr/>
        </p:nvSpPr>
        <p:spPr>
          <a:xfrm>
            <a:off x="446075" y="2022704"/>
            <a:ext cx="5535000" cy="42483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b="1" lang="en-US" sz="1800">
                <a:solidFill>
                  <a:srgbClr val="535353"/>
                </a:solidFill>
              </a:rPr>
              <a:t>9:00 AM: </a:t>
            </a:r>
            <a:r>
              <a:rPr lang="en-US" sz="1800">
                <a:solidFill>
                  <a:srgbClr val="535353"/>
                </a:solidFill>
              </a:rPr>
              <a:t>Un desarrollador hace </a:t>
            </a:r>
            <a:r>
              <a:rPr i="1" lang="en-US" sz="1800">
                <a:solidFill>
                  <a:srgbClr val="0098CD"/>
                </a:solidFill>
                <a:latin typeface="Courier New"/>
                <a:ea typeface="Courier New"/>
                <a:cs typeface="Courier New"/>
                <a:sym typeface="Courier New"/>
              </a:rPr>
              <a:t>commit</a:t>
            </a:r>
            <a:r>
              <a:rPr lang="en-US" sz="1800">
                <a:solidFill>
                  <a:srgbClr val="535353"/>
                </a:solidFill>
              </a:rPr>
              <a:t> de su trabajo</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9:05 AM: </a:t>
            </a:r>
            <a:r>
              <a:rPr lang="en-US" sz="1800">
                <a:solidFill>
                  <a:srgbClr val="535353"/>
                </a:solidFill>
              </a:rPr>
              <a:t>El pipeline de CI ejecuta un escáner SAST que genera 75 alertas de seguridad.</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Conflicto: </a:t>
            </a:r>
            <a:r>
              <a:rPr lang="en-US" sz="1800">
                <a:solidFill>
                  <a:srgbClr val="535353"/>
                </a:solidFill>
              </a:rPr>
              <a:t>¿Cómo mantenemos la velocidad sin acumular una deuda de seguridad impagable?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Dilema:</a:t>
            </a:r>
            <a:r>
              <a:rPr lang="en-US" sz="1800">
                <a:solidFill>
                  <a:srgbClr val="535353"/>
                </a:solidFill>
              </a:rPr>
              <a:t> ¿Qué es crítico? ¿Qué es un falso positivo? ¿Cómo se corrige?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Resultado: </a:t>
            </a:r>
            <a:r>
              <a:rPr lang="en-US" sz="1800">
                <a:solidFill>
                  <a:srgbClr val="535353"/>
                </a:solidFill>
              </a:rPr>
              <a:t>La investigación manual consume horas, rompe el flujo y genera frustración.</a:t>
            </a:r>
            <a:endParaRPr sz="1800">
              <a:solidFill>
                <a:srgbClr val="53535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8191dd263d_0_94"/>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54" name="Google Shape;154;g38191dd263d_0_94"/>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406400" lvl="0" marL="457200" marR="0" rtl="0" algn="l">
              <a:lnSpc>
                <a:spcPct val="100000"/>
              </a:lnSpc>
              <a:spcBef>
                <a:spcPts val="0"/>
              </a:spcBef>
              <a:spcAft>
                <a:spcPts val="0"/>
              </a:spcAft>
              <a:buClr>
                <a:srgbClr val="0098CD"/>
              </a:buClr>
              <a:buSzPts val="2800"/>
              <a:buAutoNum type="arabicPeriod"/>
            </a:pPr>
            <a:r>
              <a:rPr b="1" lang="en-US" sz="2800">
                <a:solidFill>
                  <a:srgbClr val="0098CD"/>
                </a:solidFill>
              </a:rPr>
              <a:t>Introducción</a:t>
            </a:r>
            <a:endParaRPr b="1"/>
          </a:p>
        </p:txBody>
      </p:sp>
      <p:sp>
        <p:nvSpPr>
          <p:cNvPr id="155" name="Google Shape;155;g38191dd263d_0_94"/>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56" name="Google Shape;156;g38191dd263d_0_94"/>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57" name="Google Shape;157;g38191dd263d_0_94"/>
          <p:cNvSpPr txBox="1"/>
          <p:nvPr/>
        </p:nvSpPr>
        <p:spPr>
          <a:xfrm>
            <a:off x="446075" y="1406429"/>
            <a:ext cx="9012300" cy="6771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La Fatiga por Alertas: Un Problema de Flujo</a:t>
            </a:r>
            <a:endParaRPr b="1" sz="2000">
              <a:solidFill>
                <a:srgbClr val="535353"/>
              </a:solidFill>
            </a:endParaRPr>
          </a:p>
          <a:p>
            <a:pPr indent="0" lvl="0" marL="0" rtl="0" algn="l">
              <a:spcBef>
                <a:spcPts val="0"/>
              </a:spcBef>
              <a:spcAft>
                <a:spcPts val="0"/>
              </a:spcAft>
              <a:buNone/>
            </a:pPr>
            <a:r>
              <a:rPr b="1" lang="en-US" sz="1800">
                <a:solidFill>
                  <a:srgbClr val="535353"/>
                </a:solidFill>
              </a:rPr>
              <a:t> </a:t>
            </a:r>
            <a:endParaRPr sz="1800">
              <a:solidFill>
                <a:srgbClr val="535353"/>
              </a:solidFill>
            </a:endParaRPr>
          </a:p>
        </p:txBody>
      </p:sp>
      <p:pic>
        <p:nvPicPr>
          <p:cNvPr id="158" name="Google Shape;158;g38191dd263d_0_94" title="Gemini_Generated_Image_agtc8iagtc8iagtc.png"/>
          <p:cNvPicPr preferRelativeResize="0"/>
          <p:nvPr/>
        </p:nvPicPr>
        <p:blipFill rotWithShape="1">
          <a:blip r:embed="rId3">
            <a:alphaModFix/>
          </a:blip>
          <a:srcRect b="18495" l="5133" r="5898" t="22241"/>
          <a:stretch/>
        </p:blipFill>
        <p:spPr>
          <a:xfrm>
            <a:off x="5669200" y="3282300"/>
            <a:ext cx="2899351" cy="1931200"/>
          </a:xfrm>
          <a:prstGeom prst="rect">
            <a:avLst/>
          </a:prstGeom>
          <a:noFill/>
          <a:ln>
            <a:noFill/>
          </a:ln>
        </p:spPr>
      </p:pic>
      <p:pic>
        <p:nvPicPr>
          <p:cNvPr id="159" name="Google Shape;159;g38191dd263d_0_94" title="Gemini_Generated_Image_z7wcabz7wcabz7wc.png"/>
          <p:cNvPicPr preferRelativeResize="0"/>
          <p:nvPr/>
        </p:nvPicPr>
        <p:blipFill rotWithShape="1">
          <a:blip r:embed="rId4">
            <a:alphaModFix/>
          </a:blip>
          <a:srcRect b="23451" l="0" r="0" t="25665"/>
          <a:stretch/>
        </p:blipFill>
        <p:spPr>
          <a:xfrm>
            <a:off x="5782800" y="3282300"/>
            <a:ext cx="3530601" cy="1796549"/>
          </a:xfrm>
          <a:prstGeom prst="rect">
            <a:avLst/>
          </a:prstGeom>
          <a:noFill/>
          <a:ln>
            <a:noFill/>
          </a:ln>
        </p:spPr>
      </p:pic>
      <p:pic>
        <p:nvPicPr>
          <p:cNvPr id="160" name="Google Shape;160;g38191dd263d_0_94" title="Gemini_Generated_Image_djcb2adjcb2adjcb.png"/>
          <p:cNvPicPr preferRelativeResize="0"/>
          <p:nvPr/>
        </p:nvPicPr>
        <p:blipFill rotWithShape="1">
          <a:blip r:embed="rId5">
            <a:alphaModFix/>
          </a:blip>
          <a:srcRect b="23600" l="2461" r="4662" t="21679"/>
          <a:stretch/>
        </p:blipFill>
        <p:spPr>
          <a:xfrm>
            <a:off x="5837008" y="3018719"/>
            <a:ext cx="3355200" cy="1976947"/>
          </a:xfrm>
          <a:prstGeom prst="rect">
            <a:avLst/>
          </a:prstGeom>
          <a:noFill/>
          <a:ln>
            <a:noFill/>
          </a:ln>
        </p:spPr>
      </p:pic>
      <p:sp>
        <p:nvSpPr>
          <p:cNvPr id="161" name="Google Shape;161;g38191dd263d_0_94"/>
          <p:cNvSpPr txBox="1"/>
          <p:nvPr/>
        </p:nvSpPr>
        <p:spPr>
          <a:xfrm>
            <a:off x="446075" y="2022704"/>
            <a:ext cx="5535000" cy="42483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b="1" lang="en-US" sz="1800">
                <a:solidFill>
                  <a:srgbClr val="535353"/>
                </a:solidFill>
              </a:rPr>
              <a:t>9:00 AM: </a:t>
            </a:r>
            <a:r>
              <a:rPr lang="en-US" sz="1800">
                <a:solidFill>
                  <a:srgbClr val="535353"/>
                </a:solidFill>
              </a:rPr>
              <a:t>Un desarrollador hace </a:t>
            </a:r>
            <a:r>
              <a:rPr i="1" lang="en-US" sz="1800">
                <a:solidFill>
                  <a:srgbClr val="0098CD"/>
                </a:solidFill>
                <a:latin typeface="Courier New"/>
                <a:ea typeface="Courier New"/>
                <a:cs typeface="Courier New"/>
                <a:sym typeface="Courier New"/>
              </a:rPr>
              <a:t>commit</a:t>
            </a:r>
            <a:r>
              <a:rPr lang="en-US" sz="1800">
                <a:solidFill>
                  <a:srgbClr val="535353"/>
                </a:solidFill>
              </a:rPr>
              <a:t> de su trabajo</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9:05 AM: </a:t>
            </a:r>
            <a:r>
              <a:rPr lang="en-US" sz="1800">
                <a:solidFill>
                  <a:srgbClr val="535353"/>
                </a:solidFill>
              </a:rPr>
              <a:t>El pipeline de CI ejecuta un escáner SAST que genera 75 alertas de seguridad.</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Conflicto: </a:t>
            </a:r>
            <a:r>
              <a:rPr lang="en-US" sz="1800">
                <a:solidFill>
                  <a:srgbClr val="535353"/>
                </a:solidFill>
              </a:rPr>
              <a:t>¿Cómo mantenemos la velocidad sin acumular una deuda de seguridad impagable?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Dilema:</a:t>
            </a:r>
            <a:r>
              <a:rPr lang="en-US" sz="1800">
                <a:solidFill>
                  <a:srgbClr val="535353"/>
                </a:solidFill>
              </a:rPr>
              <a:t> ¿Qué es crítico? ¿Qué es un falso positivo? ¿Cómo se corrige?</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El Resultado: </a:t>
            </a:r>
            <a:r>
              <a:rPr lang="en-US" sz="1800">
                <a:solidFill>
                  <a:srgbClr val="535353"/>
                </a:solidFill>
              </a:rPr>
              <a:t>La investigación manual consume horas, rompe el flujo y genera frustración.</a:t>
            </a:r>
            <a:endParaRPr sz="1800">
              <a:solidFill>
                <a:srgbClr val="53535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8191dd263d_0_120"/>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67" name="Google Shape;167;g38191dd263d_0_120"/>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406400" lvl="0" marL="457200" marR="0" rtl="0" algn="l">
              <a:lnSpc>
                <a:spcPct val="100000"/>
              </a:lnSpc>
              <a:spcBef>
                <a:spcPts val="0"/>
              </a:spcBef>
              <a:spcAft>
                <a:spcPts val="0"/>
              </a:spcAft>
              <a:buClr>
                <a:srgbClr val="0098CD"/>
              </a:buClr>
              <a:buSzPts val="2800"/>
              <a:buAutoNum type="arabicPeriod"/>
            </a:pPr>
            <a:r>
              <a:rPr b="1" lang="en-US" sz="2800">
                <a:solidFill>
                  <a:srgbClr val="0098CD"/>
                </a:solidFill>
              </a:rPr>
              <a:t>Introducción</a:t>
            </a:r>
            <a:endParaRPr b="1"/>
          </a:p>
        </p:txBody>
      </p:sp>
      <p:sp>
        <p:nvSpPr>
          <p:cNvPr id="168" name="Google Shape;168;g38191dd263d_0_120"/>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69" name="Google Shape;169;g38191dd263d_0_120"/>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70" name="Google Shape;170;g38191dd263d_0_120"/>
          <p:cNvSpPr txBox="1"/>
          <p:nvPr/>
        </p:nvSpPr>
        <p:spPr>
          <a:xfrm>
            <a:off x="446075" y="1406429"/>
            <a:ext cx="9012300" cy="10158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¿Podemos usar la IA generativa para actuar como un "traductor inteligente", convirtiendo una alerta de seguridad en una guía de remediación clara y accionable?</a:t>
            </a:r>
            <a:endParaRPr sz="1800">
              <a:solidFill>
                <a:srgbClr val="535353"/>
              </a:solidFill>
            </a:endParaRPr>
          </a:p>
        </p:txBody>
      </p:sp>
      <p:sp>
        <p:nvSpPr>
          <p:cNvPr id="171" name="Google Shape;171;g38191dd263d_0_120"/>
          <p:cNvSpPr txBox="1"/>
          <p:nvPr/>
        </p:nvSpPr>
        <p:spPr>
          <a:xfrm>
            <a:off x="446075" y="2787538"/>
            <a:ext cx="3829800" cy="9234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b="1" lang="en-US" sz="1800">
                <a:solidFill>
                  <a:srgbClr val="535353"/>
                </a:solidFill>
              </a:rPr>
              <a:t>El Problema: </a:t>
            </a:r>
            <a:r>
              <a:rPr lang="en-US" sz="1800">
                <a:solidFill>
                  <a:srgbClr val="535353"/>
                </a:solidFill>
              </a:rPr>
              <a:t>Las herramientas actuales nos dicen </a:t>
            </a:r>
            <a:r>
              <a:rPr b="1" lang="en-US" sz="1800">
                <a:solidFill>
                  <a:srgbClr val="535353"/>
                </a:solidFill>
              </a:rPr>
              <a:t>QUÉ</a:t>
            </a:r>
            <a:r>
              <a:rPr lang="en-US" sz="1800">
                <a:solidFill>
                  <a:srgbClr val="535353"/>
                </a:solidFill>
              </a:rPr>
              <a:t> está mal.</a:t>
            </a:r>
            <a:endParaRPr sz="1800">
              <a:solidFill>
                <a:srgbClr val="535353"/>
              </a:solidFill>
            </a:endParaRPr>
          </a:p>
        </p:txBody>
      </p:sp>
      <p:pic>
        <p:nvPicPr>
          <p:cNvPr id="172" name="Google Shape;172;g38191dd263d_0_120" title="Gemini_Generated_Image_x5d9ukx5d9ukx5d9.png"/>
          <p:cNvPicPr preferRelativeResize="0"/>
          <p:nvPr/>
        </p:nvPicPr>
        <p:blipFill rotWithShape="1">
          <a:blip r:embed="rId3">
            <a:alphaModFix/>
          </a:blip>
          <a:srcRect b="30684" l="0" r="0" t="33939"/>
          <a:stretch/>
        </p:blipFill>
        <p:spPr>
          <a:xfrm>
            <a:off x="1903800" y="4096902"/>
            <a:ext cx="4960125" cy="1754703"/>
          </a:xfrm>
          <a:prstGeom prst="rect">
            <a:avLst/>
          </a:prstGeom>
          <a:noFill/>
          <a:ln>
            <a:noFill/>
          </a:ln>
        </p:spPr>
      </p:pic>
      <p:sp>
        <p:nvSpPr>
          <p:cNvPr id="173" name="Google Shape;173;g38191dd263d_0_120"/>
          <p:cNvSpPr txBox="1"/>
          <p:nvPr/>
        </p:nvSpPr>
        <p:spPr>
          <a:xfrm>
            <a:off x="4706250" y="2752214"/>
            <a:ext cx="4248300" cy="9234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b="1" lang="en-US" sz="1800">
                <a:solidFill>
                  <a:srgbClr val="535353"/>
                </a:solidFill>
              </a:rPr>
              <a:t>La Necesidad:</a:t>
            </a:r>
            <a:r>
              <a:rPr lang="en-US" sz="1800">
                <a:solidFill>
                  <a:srgbClr val="535353"/>
                </a:solidFill>
              </a:rPr>
              <a:t> Los desarrolladores necesitan saber </a:t>
            </a:r>
            <a:r>
              <a:rPr b="1" lang="en-US" sz="1800">
                <a:solidFill>
                  <a:srgbClr val="535353"/>
                </a:solidFill>
              </a:rPr>
              <a:t>CÓMO</a:t>
            </a:r>
            <a:r>
              <a:rPr lang="en-US" sz="1800">
                <a:solidFill>
                  <a:srgbClr val="535353"/>
                </a:solidFill>
              </a:rPr>
              <a:t> arreglarlo, de forma rápida y segura.</a:t>
            </a:r>
            <a:endParaRPr sz="1800">
              <a:solidFill>
                <a:srgbClr val="53535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a1be066649_3_0"/>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79" name="Google Shape;179;g3a1be066649_3_0"/>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2. Estado del arte y Oportunidad detectada</a:t>
            </a:r>
            <a:endParaRPr b="1"/>
          </a:p>
        </p:txBody>
      </p:sp>
      <p:sp>
        <p:nvSpPr>
          <p:cNvPr id="180" name="Google Shape;180;g3a1be066649_3_0"/>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81" name="Google Shape;181;g3a1be066649_3_0"/>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82" name="Google Shape;182;g3a1be066649_3_0"/>
          <p:cNvSpPr txBox="1"/>
          <p:nvPr/>
        </p:nvSpPr>
        <p:spPr>
          <a:xfrm>
            <a:off x="633437" y="5712262"/>
            <a:ext cx="7500900" cy="12621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US" sz="1000">
                <a:solidFill>
                  <a:srgbClr val="535353"/>
                </a:solidFill>
              </a:rPr>
              <a:t>[1]  Johnson, Blair, Tudor Pletea y Andreas Nurnberger (2023). A Qualitative Study of the Usability of Static Analysis Tools for Security. En: 2023 IEEE/ACM 1st International Workshop on AI for Software Engineering (WAIN), págs. 85-92.</a:t>
            </a:r>
            <a:endParaRPr sz="1000">
              <a:solidFill>
                <a:srgbClr val="535353"/>
              </a:solidFill>
            </a:endParaRPr>
          </a:p>
          <a:p>
            <a:pPr indent="-228600" lvl="0" marL="228600" rtl="0" algn="l">
              <a:spcBef>
                <a:spcPts val="0"/>
              </a:spcBef>
              <a:spcAft>
                <a:spcPts val="0"/>
              </a:spcAft>
              <a:buNone/>
            </a:pPr>
            <a:r>
              <a:rPr lang="en-US" sz="1000">
                <a:solidFill>
                  <a:srgbClr val="535353"/>
                </a:solidFill>
              </a:rPr>
              <a:t>[2] Wang, W. and Liu,Y.. (2022). Can Large Language Models Write Secure Code? A Security Evaluation of GitHub Copilot. En: arXiv preprint arXiv:2211.03643</a:t>
            </a:r>
            <a:endParaRPr sz="10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graphicFrame>
        <p:nvGraphicFramePr>
          <p:cNvPr id="183" name="Google Shape;183;g3a1be066649_3_0"/>
          <p:cNvGraphicFramePr/>
          <p:nvPr/>
        </p:nvGraphicFramePr>
        <p:xfrm>
          <a:off x="415950" y="1659653"/>
          <a:ext cx="3000000" cy="3000000"/>
        </p:xfrm>
        <a:graphic>
          <a:graphicData uri="http://schemas.openxmlformats.org/drawingml/2006/table">
            <a:tbl>
              <a:tblPr>
                <a:noFill/>
                <a:tableStyleId>{878AAE2C-4EC4-44D2-8B41-817CE5654850}</a:tableStyleId>
              </a:tblPr>
              <a:tblGrid>
                <a:gridCol w="2839025"/>
                <a:gridCol w="2821325"/>
                <a:gridCol w="2651725"/>
              </a:tblGrid>
              <a:tr h="1220575">
                <a:tc>
                  <a:txBody>
                    <a:bodyPr/>
                    <a:lstStyle/>
                    <a:p>
                      <a:pPr indent="0" lvl="0" marL="0" rtl="0" algn="ctr">
                        <a:lnSpc>
                          <a:spcPct val="115000"/>
                        </a:lnSpc>
                        <a:spcBef>
                          <a:spcPts val="0"/>
                        </a:spcBef>
                        <a:spcAft>
                          <a:spcPts val="0"/>
                        </a:spcAft>
                        <a:buNone/>
                      </a:pPr>
                      <a:r>
                        <a:rPr b="1" lang="en-US" sz="1800"/>
                        <a:t>Detección Tradicional</a:t>
                      </a:r>
                      <a:endParaRPr b="1" sz="18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US" sz="1800"/>
                        <a:t>IA - Auto Reparación</a:t>
                      </a:r>
                      <a:endParaRPr b="1" sz="18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800"/>
                        <a:t>La brecha de oportunidad</a:t>
                      </a:r>
                      <a:endParaRPr b="1" sz="1800"/>
                    </a:p>
                  </a:txBody>
                  <a:tcPr marT="19075" marB="19075" marR="91425" marL="91425" anchor="ctr">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9EAD3"/>
                    </a:solidFill>
                  </a:tcPr>
                </a:tc>
              </a:tr>
              <a:tr h="1090375">
                <a:tc>
                  <a:txBody>
                    <a:bodyPr/>
                    <a:lstStyle/>
                    <a:p>
                      <a:pPr indent="0" lvl="0" marL="0" rtl="0" algn="ctr">
                        <a:lnSpc>
                          <a:spcPct val="115000"/>
                        </a:lnSpc>
                        <a:spcBef>
                          <a:spcPts val="0"/>
                        </a:spcBef>
                        <a:spcAft>
                          <a:spcPts val="0"/>
                        </a:spcAft>
                        <a:buNone/>
                      </a:pPr>
                      <a:r>
                        <a:rPr b="1" lang="en-US" sz="1600"/>
                        <a:t>Foco: </a:t>
                      </a:r>
                      <a:endParaRPr sz="1600"/>
                    </a:p>
                    <a:p>
                      <a:pPr indent="0" lvl="0" marL="0" rtl="0" algn="ctr">
                        <a:lnSpc>
                          <a:spcPct val="115000"/>
                        </a:lnSpc>
                        <a:spcBef>
                          <a:spcPts val="0"/>
                        </a:spcBef>
                        <a:spcAft>
                          <a:spcPts val="0"/>
                        </a:spcAft>
                        <a:buNone/>
                      </a:pPr>
                      <a:r>
                        <a:rPr lang="en-US" sz="1600"/>
                        <a:t>Detección de patrones (el “QUÉ”)</a:t>
                      </a:r>
                      <a:endParaRPr sz="16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US" sz="1600"/>
                        <a:t>Foco:</a:t>
                      </a:r>
                      <a:r>
                        <a:rPr lang="en-US" sz="1600"/>
                        <a:t>  Generación/Reparación de código (APR)</a:t>
                      </a:r>
                      <a:endParaRPr sz="16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600"/>
                        <a:t>El problema</a:t>
                      </a:r>
                      <a:r>
                        <a:rPr b="1" lang="en-US" sz="1600"/>
                        <a:t>: </a:t>
                      </a:r>
                      <a:endParaRPr sz="1600"/>
                    </a:p>
                    <a:p>
                      <a:pPr indent="0" lvl="0" marL="0" rtl="0" algn="ctr">
                        <a:lnSpc>
                          <a:spcPct val="115000"/>
                        </a:lnSpc>
                        <a:spcBef>
                          <a:spcPts val="0"/>
                        </a:spcBef>
                        <a:spcAft>
                          <a:spcPts val="0"/>
                        </a:spcAft>
                        <a:buNone/>
                      </a:pPr>
                      <a:r>
                        <a:rPr lang="en-US" sz="1600"/>
                        <a:t>Atrapados entre el Ruido y la Desconfianza</a:t>
                      </a:r>
                      <a:endParaRPr sz="1600"/>
                    </a:p>
                  </a:txBody>
                  <a:tcPr marT="19075" marB="19075" marR="91425" marL="91425" anchor="ctr">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9EAD3"/>
                    </a:solidFill>
                  </a:tcPr>
                </a:tc>
              </a:tr>
              <a:tr h="1453225">
                <a:tc>
                  <a:txBody>
                    <a:bodyPr/>
                    <a:lstStyle/>
                    <a:p>
                      <a:pPr indent="0" lvl="0" marL="0" rtl="0" algn="ctr">
                        <a:lnSpc>
                          <a:spcPct val="115000"/>
                        </a:lnSpc>
                        <a:spcBef>
                          <a:spcPts val="0"/>
                        </a:spcBef>
                        <a:spcAft>
                          <a:spcPts val="0"/>
                        </a:spcAft>
                        <a:buNone/>
                      </a:pPr>
                      <a:r>
                        <a:rPr b="1" lang="en-US" sz="1600"/>
                        <a:t>🚨</a:t>
                      </a:r>
                      <a:r>
                        <a:rPr lang="en-US" sz="1600"/>
                        <a:t> Ruido y fatiga por alertas</a:t>
                      </a:r>
                      <a:endParaRPr sz="1600"/>
                    </a:p>
                    <a:p>
                      <a:pPr indent="0" lvl="0" marL="0" rtl="0" algn="ctr">
                        <a:lnSpc>
                          <a:spcPct val="115000"/>
                        </a:lnSpc>
                        <a:spcBef>
                          <a:spcPts val="0"/>
                        </a:spcBef>
                        <a:spcAft>
                          <a:spcPts val="0"/>
                        </a:spcAft>
                        <a:buNone/>
                      </a:pPr>
                      <a:r>
                        <a:rPr lang="en-US" sz="1600"/>
                        <a:t>[1]</a:t>
                      </a:r>
                      <a:endParaRPr sz="16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US" sz="1600"/>
                        <a:t>🚨</a:t>
                      </a:r>
                      <a:r>
                        <a:rPr lang="en-US" sz="1600"/>
                        <a:t>Poco fiable, genera desconfianza [2]</a:t>
                      </a:r>
                      <a:endParaRPr sz="1600"/>
                    </a:p>
                  </a:txBody>
                  <a:tcPr marT="19075" marB="19075"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600"/>
                        <a:t>La oportunidad:</a:t>
                      </a:r>
                      <a:endParaRPr b="1" sz="1600"/>
                    </a:p>
                    <a:p>
                      <a:pPr indent="0" lvl="0" marL="0" rtl="0" algn="ctr">
                        <a:lnSpc>
                          <a:spcPct val="115000"/>
                        </a:lnSpc>
                        <a:spcBef>
                          <a:spcPts val="0"/>
                        </a:spcBef>
                        <a:spcAft>
                          <a:spcPts val="0"/>
                        </a:spcAft>
                        <a:buNone/>
                      </a:pPr>
                      <a:r>
                        <a:rPr lang="en-US" sz="1600"/>
                        <a:t>Un asistente Inteligente que </a:t>
                      </a:r>
                      <a:r>
                        <a:rPr lang="en-US" sz="1600"/>
                        <a:t>guíe</a:t>
                      </a:r>
                      <a:r>
                        <a:rPr lang="en-US" sz="1600"/>
                        <a:t> la remediación</a:t>
                      </a:r>
                      <a:endParaRPr sz="1600"/>
                    </a:p>
                  </a:txBody>
                  <a:tcPr marT="19075" marB="19075" marR="91425" marL="91425" anchor="ctr">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641903a3dc_0_23"/>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89" name="Google Shape;189;g3641903a3dc_0_23"/>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3. La Solución Propuesta</a:t>
            </a:r>
            <a:endParaRPr b="1" sz="2800">
              <a:solidFill>
                <a:srgbClr val="0098CD"/>
              </a:solidFill>
            </a:endParaRPr>
          </a:p>
        </p:txBody>
      </p:sp>
      <p:sp>
        <p:nvSpPr>
          <p:cNvPr id="190" name="Google Shape;190;g3641903a3dc_0_23"/>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191" name="Google Shape;191;g3641903a3dc_0_23"/>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192" name="Google Shape;192;g3641903a3dc_0_23"/>
          <p:cNvSpPr txBox="1"/>
          <p:nvPr/>
        </p:nvSpPr>
        <p:spPr>
          <a:xfrm>
            <a:off x="446075" y="1406429"/>
            <a:ext cx="90123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Asistente de Seguridad IA</a:t>
            </a:r>
            <a:endParaRPr sz="1800">
              <a:solidFill>
                <a:srgbClr val="535353"/>
              </a:solidFill>
            </a:endParaRPr>
          </a:p>
        </p:txBody>
      </p:sp>
      <p:sp>
        <p:nvSpPr>
          <p:cNvPr id="193" name="Google Shape;193;g3641903a3dc_0_23"/>
          <p:cNvSpPr txBox="1"/>
          <p:nvPr/>
        </p:nvSpPr>
        <p:spPr>
          <a:xfrm>
            <a:off x="4572000" y="2227604"/>
            <a:ext cx="3913200" cy="3417000"/>
          </a:xfrm>
          <a:prstGeom prst="rect">
            <a:avLst/>
          </a:prstGeom>
          <a:noFill/>
          <a:ln>
            <a:noFill/>
          </a:ln>
        </p:spPr>
        <p:txBody>
          <a:bodyPr anchorCtr="0" anchor="t" bIns="45700" lIns="45700" spcFirstLastPara="1" rIns="45700" wrap="square" tIns="45700">
            <a:spAutoFit/>
          </a:bodyPr>
          <a:lstStyle/>
          <a:p>
            <a:pPr indent="-342900" lvl="1" marL="457200" rtl="0" algn="l">
              <a:spcBef>
                <a:spcPts val="0"/>
              </a:spcBef>
              <a:spcAft>
                <a:spcPts val="0"/>
              </a:spcAft>
              <a:buClr>
                <a:srgbClr val="535353"/>
              </a:buClr>
              <a:buSzPts val="1800"/>
              <a:buChar char="○"/>
            </a:pPr>
            <a:r>
              <a:rPr lang="en-US" sz="1800">
                <a:solidFill>
                  <a:srgbClr val="535353"/>
                </a:solidFill>
              </a:rPr>
              <a:t>No es otro escáner de seguridad.</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lang="en-US" sz="1800">
                <a:solidFill>
                  <a:srgbClr val="535353"/>
                </a:solidFill>
              </a:rPr>
              <a:t>Es un asistente inteligente integrado en el flujo de trabajo.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Su Misión:</a:t>
            </a:r>
            <a:r>
              <a:rPr lang="en-US" sz="1800">
                <a:solidFill>
                  <a:srgbClr val="535353"/>
                </a:solidFill>
              </a:rPr>
              <a:t> Empoderar al desarrollador para que corrija vulnerabilidades de forma más rápida, eficiente y con mayor conocimiento.</a:t>
            </a:r>
            <a:endParaRPr sz="1800">
              <a:solidFill>
                <a:srgbClr val="535353"/>
              </a:solidFill>
            </a:endParaRPr>
          </a:p>
          <a:p>
            <a:pPr indent="0" lvl="0" marL="914400" rtl="0" algn="l">
              <a:lnSpc>
                <a:spcPct val="115000"/>
              </a:lnSpc>
              <a:spcBef>
                <a:spcPts val="0"/>
              </a:spcBef>
              <a:spcAft>
                <a:spcPts val="0"/>
              </a:spcAft>
              <a:buNone/>
            </a:pPr>
            <a:r>
              <a:t/>
            </a:r>
            <a:endParaRPr sz="1800">
              <a:solidFill>
                <a:srgbClr val="535353"/>
              </a:solidFill>
            </a:endParaRPr>
          </a:p>
        </p:txBody>
      </p:sp>
      <p:pic>
        <p:nvPicPr>
          <p:cNvPr id="194" name="Google Shape;194;g3641903a3dc_0_23" title="Gemini_Generated_Image_dwpjmmdwpjmmdwpj (1).png"/>
          <p:cNvPicPr preferRelativeResize="0"/>
          <p:nvPr/>
        </p:nvPicPr>
        <p:blipFill rotWithShape="1">
          <a:blip r:embed="rId3">
            <a:alphaModFix/>
          </a:blip>
          <a:srcRect b="0" l="0" r="0" t="15775"/>
          <a:stretch/>
        </p:blipFill>
        <p:spPr>
          <a:xfrm>
            <a:off x="172275" y="2009937"/>
            <a:ext cx="4574026" cy="3852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641903a3dc_0_31"/>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00" name="Google Shape;200;g3641903a3dc_0_31"/>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4. Objetivos</a:t>
            </a:r>
            <a:endParaRPr b="1"/>
          </a:p>
        </p:txBody>
      </p:sp>
      <p:sp>
        <p:nvSpPr>
          <p:cNvPr id="201" name="Google Shape;201;g3641903a3dc_0_31"/>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02" name="Google Shape;202;g3641903a3dc_0_31"/>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03" name="Google Shape;203;g3641903a3dc_0_31"/>
          <p:cNvSpPr txBox="1"/>
          <p:nvPr/>
        </p:nvSpPr>
        <p:spPr>
          <a:xfrm>
            <a:off x="446075" y="1290275"/>
            <a:ext cx="8591100" cy="721200"/>
          </a:xfrm>
          <a:prstGeom prst="rect">
            <a:avLst/>
          </a:prstGeom>
          <a:noFill/>
          <a:ln>
            <a:noFill/>
          </a:ln>
        </p:spPr>
        <p:txBody>
          <a:bodyPr anchorCtr="0" anchor="t" bIns="45700" lIns="45700" spcFirstLastPara="1" rIns="45700" wrap="square" tIns="45700">
            <a:spAutoFit/>
          </a:bodyPr>
          <a:lstStyle/>
          <a:p>
            <a:pPr indent="0" lvl="0" marL="0" rtl="0" algn="just">
              <a:lnSpc>
                <a:spcPct val="115000"/>
              </a:lnSpc>
              <a:spcBef>
                <a:spcPts val="0"/>
              </a:spcBef>
              <a:spcAft>
                <a:spcPts val="0"/>
              </a:spcAft>
              <a:buNone/>
            </a:pPr>
            <a:r>
              <a:rPr b="1" lang="en-US" sz="1900">
                <a:solidFill>
                  <a:schemeClr val="dk1"/>
                </a:solidFill>
              </a:rPr>
              <a:t>Diseñar, implementar y evaluar un prototipo que integre IA en un pipeline CI/CD para generar sugerencias de mitigación de vulnerabilidades.</a:t>
            </a:r>
            <a:endParaRPr b="1" sz="1900">
              <a:solidFill>
                <a:schemeClr val="dk1"/>
              </a:solidFill>
            </a:endParaRPr>
          </a:p>
        </p:txBody>
      </p:sp>
      <p:sp>
        <p:nvSpPr>
          <p:cNvPr id="204" name="Google Shape;204;g3641903a3dc_0_31"/>
          <p:cNvSpPr txBox="1"/>
          <p:nvPr/>
        </p:nvSpPr>
        <p:spPr>
          <a:xfrm>
            <a:off x="3728375" y="2199725"/>
            <a:ext cx="5029800" cy="41097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1800">
                <a:solidFill>
                  <a:schemeClr val="dk1"/>
                </a:solidFill>
              </a:rPr>
              <a:t>Específicos:</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US" sz="1800">
                <a:solidFill>
                  <a:schemeClr val="dk1"/>
                </a:solidFill>
              </a:rPr>
              <a:t>Integrar una herramienta SAST en el pipeline para la detección inicial.</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US" sz="1800">
                <a:solidFill>
                  <a:schemeClr val="dk1"/>
                </a:solidFill>
              </a:rPr>
              <a:t>Conectar el pipeline con un modelo de IA para analizar el código.</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US" sz="1800">
                <a:solidFill>
                  <a:schemeClr val="dk1"/>
                </a:solidFill>
              </a:rPr>
              <a:t>Orquestar el proceso completo, desde el commit hasta el análisis.</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US" sz="1800">
                <a:solidFill>
                  <a:schemeClr val="dk1"/>
                </a:solidFill>
              </a:rPr>
              <a:t>Presentar los hallazgos en informes HTML claros y accionables.</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US" sz="1800">
                <a:solidFill>
                  <a:schemeClr val="dk1"/>
                </a:solidFill>
              </a:rPr>
              <a:t>Evaluar la calidad de las sugerencias y medir el impacto en el pipeline.</a:t>
            </a:r>
            <a:endParaRPr sz="1800">
              <a:solidFill>
                <a:schemeClr val="dk1"/>
              </a:solidFill>
            </a:endParaRPr>
          </a:p>
          <a:p>
            <a:pPr indent="0" lvl="0" marL="0" rtl="0" algn="l">
              <a:lnSpc>
                <a:spcPct val="115000"/>
              </a:lnSpc>
              <a:spcBef>
                <a:spcPts val="0"/>
              </a:spcBef>
              <a:spcAft>
                <a:spcPts val="0"/>
              </a:spcAft>
              <a:buNone/>
            </a:pPr>
            <a:r>
              <a:t/>
            </a:r>
            <a:endParaRPr sz="1800">
              <a:solidFill>
                <a:srgbClr val="535353"/>
              </a:solidFill>
            </a:endParaRPr>
          </a:p>
        </p:txBody>
      </p:sp>
      <p:pic>
        <p:nvPicPr>
          <p:cNvPr id="205" name="Google Shape;205;g3641903a3dc_0_31" title="Gemini_Generated_Image_w0jki8w0jki8w0jk.png"/>
          <p:cNvPicPr preferRelativeResize="0"/>
          <p:nvPr/>
        </p:nvPicPr>
        <p:blipFill rotWithShape="1">
          <a:blip r:embed="rId3">
            <a:alphaModFix/>
          </a:blip>
          <a:srcRect b="9968" l="24719" r="25402" t="10666"/>
          <a:stretch/>
        </p:blipFill>
        <p:spPr>
          <a:xfrm>
            <a:off x="856570" y="2199725"/>
            <a:ext cx="2582779" cy="4109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1980c8407_0_15"/>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11" name="Google Shape;211;g3a1980c8407_0_15"/>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5. Arquitectura e Implementación</a:t>
            </a:r>
            <a:endParaRPr b="1" sz="2800">
              <a:solidFill>
                <a:srgbClr val="0098CD"/>
              </a:solidFill>
            </a:endParaRPr>
          </a:p>
        </p:txBody>
      </p:sp>
      <p:sp>
        <p:nvSpPr>
          <p:cNvPr id="212" name="Google Shape;212;g3a1980c8407_0_15"/>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13" name="Google Shape;213;g3a1980c8407_0_15"/>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14" name="Google Shape;214;g3a1980c8407_0_15"/>
          <p:cNvSpPr txBox="1"/>
          <p:nvPr/>
        </p:nvSpPr>
        <p:spPr>
          <a:xfrm>
            <a:off x="821550" y="5651227"/>
            <a:ext cx="7500900" cy="585000"/>
          </a:xfrm>
          <a:prstGeom prst="rect">
            <a:avLst/>
          </a:prstGeom>
          <a:noFill/>
          <a:ln>
            <a:noFill/>
          </a:ln>
        </p:spPr>
        <p:txBody>
          <a:bodyPr anchorCtr="0" anchor="t" bIns="45700" lIns="45700" spcFirstLastPara="1" rIns="45700" wrap="square" tIns="45700">
            <a:spAutoFit/>
          </a:bodyPr>
          <a:lstStyle/>
          <a:p>
            <a:pPr indent="-228600" lvl="0" marL="228600" marR="0" rtl="0" algn="l">
              <a:lnSpc>
                <a:spcPct val="100000"/>
              </a:lnSpc>
              <a:spcBef>
                <a:spcPts val="0"/>
              </a:spcBef>
              <a:spcAft>
                <a:spcPts val="0"/>
              </a:spcAft>
              <a:buClr>
                <a:srgbClr val="535353"/>
              </a:buClr>
              <a:buSzPts val="1800"/>
              <a:buFont typeface="Arial"/>
              <a:buNone/>
            </a:pPr>
            <a:r>
              <a:t/>
            </a:r>
            <a:endParaRPr>
              <a:solidFill>
                <a:srgbClr val="535353"/>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pic>
        <p:nvPicPr>
          <p:cNvPr id="215" name="Google Shape;215;g3a1980c8407_0_15"/>
          <p:cNvPicPr preferRelativeResize="0"/>
          <p:nvPr/>
        </p:nvPicPr>
        <p:blipFill>
          <a:blip r:embed="rId3">
            <a:alphaModFix/>
          </a:blip>
          <a:stretch>
            <a:fillRect/>
          </a:stretch>
        </p:blipFill>
        <p:spPr>
          <a:xfrm>
            <a:off x="152400" y="1113000"/>
            <a:ext cx="8764308" cy="50454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a1980c8407_0_28"/>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21" name="Google Shape;221;g3a1980c8407_0_28"/>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6. Evaluación y Resultados</a:t>
            </a:r>
            <a:endParaRPr b="1"/>
          </a:p>
        </p:txBody>
      </p:sp>
      <p:sp>
        <p:nvSpPr>
          <p:cNvPr id="222" name="Google Shape;222;g3a1980c8407_0_28"/>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23" name="Google Shape;223;g3a1980c8407_0_28"/>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24" name="Google Shape;224;g3a1980c8407_0_28"/>
          <p:cNvSpPr txBox="1"/>
          <p:nvPr/>
        </p:nvSpPr>
        <p:spPr>
          <a:xfrm>
            <a:off x="446075" y="1512550"/>
            <a:ext cx="3840000" cy="4525200"/>
          </a:xfrm>
          <a:prstGeom prst="rect">
            <a:avLst/>
          </a:prstGeom>
          <a:solidFill>
            <a:srgbClr val="D9D9D9"/>
          </a:solidFill>
          <a:ln>
            <a:noFill/>
          </a:ln>
        </p:spPr>
        <p:txBody>
          <a:bodyPr anchorCtr="0" anchor="t" bIns="45700" lIns="45700" spcFirstLastPara="1" rIns="45700" wrap="square" tIns="45700">
            <a:spAutoFit/>
          </a:bodyPr>
          <a:lstStyle/>
          <a:p>
            <a:pPr indent="-342900" lvl="0" marL="457200" rtl="0" algn="l">
              <a:spcBef>
                <a:spcPts val="0"/>
              </a:spcBef>
              <a:spcAft>
                <a:spcPts val="0"/>
              </a:spcAft>
              <a:buClr>
                <a:srgbClr val="535353"/>
              </a:buClr>
              <a:buSzPts val="1800"/>
              <a:buChar char="●"/>
            </a:pPr>
            <a:r>
              <a:rPr b="1" lang="en-US" sz="1800">
                <a:solidFill>
                  <a:srgbClr val="535353"/>
                </a:solidFill>
              </a:rPr>
              <a:t>Caso de Estudio:</a:t>
            </a:r>
            <a:endParaRPr b="1"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Microservicios Java con vulnerabilidades (13) </a:t>
            </a:r>
            <a:endParaRPr sz="1800">
              <a:solidFill>
                <a:srgbClr val="535353"/>
              </a:solidFill>
            </a:endParaRPr>
          </a:p>
          <a:p>
            <a:pPr indent="0" lvl="0" marL="914400" rtl="0" algn="l">
              <a:spcBef>
                <a:spcPts val="0"/>
              </a:spcBef>
              <a:spcAft>
                <a:spcPts val="0"/>
              </a:spcAft>
              <a:buNone/>
            </a:pPr>
            <a:r>
              <a:rPr lang="en-US" sz="1800">
                <a:solidFill>
                  <a:srgbClr val="535353"/>
                </a:solidFill>
              </a:rPr>
              <a:t>implantadas.</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0" marL="457200" rtl="0" algn="l">
              <a:spcBef>
                <a:spcPts val="0"/>
              </a:spcBef>
              <a:spcAft>
                <a:spcPts val="0"/>
              </a:spcAft>
              <a:buClr>
                <a:srgbClr val="535353"/>
              </a:buClr>
              <a:buSzPts val="1800"/>
              <a:buChar char="●"/>
            </a:pPr>
            <a:r>
              <a:rPr b="1" lang="en-US" sz="1800">
                <a:solidFill>
                  <a:srgbClr val="535353"/>
                </a:solidFill>
              </a:rPr>
              <a:t>Herramientas de referencia:</a:t>
            </a:r>
            <a:endParaRPr b="1"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SonarQube</a:t>
            </a:r>
            <a:endParaRPr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Snyk</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342900" lvl="0" marL="457200" rtl="0" algn="l">
              <a:spcBef>
                <a:spcPts val="0"/>
              </a:spcBef>
              <a:spcAft>
                <a:spcPts val="0"/>
              </a:spcAft>
              <a:buClr>
                <a:srgbClr val="535353"/>
              </a:buClr>
              <a:buSzPts val="1800"/>
              <a:buChar char="●"/>
            </a:pPr>
            <a:r>
              <a:rPr b="1" lang="en-US" sz="1800">
                <a:solidFill>
                  <a:srgbClr val="535353"/>
                </a:solidFill>
              </a:rPr>
              <a:t>Modelos IA Evaluados:</a:t>
            </a:r>
            <a:endParaRPr b="1"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Gemini 2.0 Flash</a:t>
            </a:r>
            <a:endParaRPr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Deepseek Chat</a:t>
            </a:r>
            <a:endParaRPr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Deepseek R1</a:t>
            </a:r>
            <a:endParaRPr sz="1800">
              <a:solidFill>
                <a:srgbClr val="535353"/>
              </a:solidFill>
            </a:endParaRPr>
          </a:p>
          <a:p>
            <a:pPr indent="-342900" lvl="1" marL="914400" rtl="0" algn="l">
              <a:spcBef>
                <a:spcPts val="0"/>
              </a:spcBef>
              <a:spcAft>
                <a:spcPts val="0"/>
              </a:spcAft>
              <a:buClr>
                <a:srgbClr val="535353"/>
              </a:buClr>
              <a:buSzPts val="1800"/>
              <a:buChar char="○"/>
            </a:pPr>
            <a:r>
              <a:rPr lang="en-US" sz="1800">
                <a:solidFill>
                  <a:srgbClr val="535353"/>
                </a:solidFill>
              </a:rPr>
              <a:t>Qwen Coder</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sp>
        <p:nvSpPr>
          <p:cNvPr id="225" name="Google Shape;225;g3a1980c8407_0_28"/>
          <p:cNvSpPr txBox="1"/>
          <p:nvPr/>
        </p:nvSpPr>
        <p:spPr>
          <a:xfrm>
            <a:off x="4750425" y="1512550"/>
            <a:ext cx="4069500" cy="45252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535353"/>
                </a:solidFill>
              </a:rPr>
              <a:t>Tasa de Detección:</a:t>
            </a:r>
            <a:r>
              <a:rPr lang="en-US" sz="1800">
                <a:solidFill>
                  <a:srgbClr val="535353"/>
                </a:solidFill>
              </a:rPr>
              <a:t> ¿Cuántas de las 13 vulnerabilidades se encontraron?</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b="1" lang="en-US" sz="1800">
                <a:solidFill>
                  <a:srgbClr val="535353"/>
                </a:solidFill>
              </a:rPr>
              <a:t>Precisión:</a:t>
            </a:r>
            <a:r>
              <a:rPr lang="en-US" sz="1800">
                <a:solidFill>
                  <a:srgbClr val="535353"/>
                </a:solidFill>
              </a:rPr>
              <a:t> ¿Se generaron falsos positivos?</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b="1" lang="en-US" sz="1800">
                <a:solidFill>
                  <a:srgbClr val="535353"/>
                </a:solidFill>
              </a:rPr>
              <a:t>Eficiencia:</a:t>
            </a:r>
            <a:r>
              <a:rPr lang="en-US" sz="1800">
                <a:solidFill>
                  <a:srgbClr val="535353"/>
                </a:solidFill>
              </a:rPr>
              <a:t> ¿Cuánto tardó el análisis?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b="1" lang="en-US" sz="1800">
                <a:solidFill>
                  <a:srgbClr val="535353"/>
                </a:solidFill>
              </a:rPr>
              <a:t>Viabilidad:</a:t>
            </a:r>
            <a:r>
              <a:rPr lang="en-US" sz="1800">
                <a:solidFill>
                  <a:srgbClr val="535353"/>
                </a:solidFill>
              </a:rPr>
              <a:t> ¿Cuál es el coste/consumo relativo?</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b="1" lang="en-US" sz="1800">
                <a:solidFill>
                  <a:srgbClr val="535353"/>
                </a:solidFill>
              </a:rPr>
              <a:t>Valor Cualitativo:</a:t>
            </a:r>
            <a:r>
              <a:rPr lang="en-US" sz="1800">
                <a:solidFill>
                  <a:srgbClr val="535353"/>
                </a:solidFill>
              </a:rPr>
              <a:t> ¿La ayuda es clara, segura y accionable para el desarrollador?</a:t>
            </a:r>
            <a:endParaRPr sz="1800"/>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a1980c8407_0_39"/>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31" name="Google Shape;231;g3a1980c8407_0_39"/>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6. Evaluación y Resultados.</a:t>
            </a:r>
            <a:endParaRPr b="1"/>
          </a:p>
        </p:txBody>
      </p:sp>
      <p:sp>
        <p:nvSpPr>
          <p:cNvPr id="232" name="Google Shape;232;g3a1980c8407_0_39"/>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33" name="Google Shape;233;g3a1980c8407_0_39"/>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34" name="Google Shape;234;g3a1980c8407_0_39"/>
          <p:cNvSpPr txBox="1"/>
          <p:nvPr/>
        </p:nvSpPr>
        <p:spPr>
          <a:xfrm>
            <a:off x="821550" y="1484276"/>
            <a:ext cx="7500900" cy="4525200"/>
          </a:xfrm>
          <a:prstGeom prst="rect">
            <a:avLst/>
          </a:prstGeom>
          <a:noFill/>
          <a:ln>
            <a:noFill/>
          </a:ln>
        </p:spPr>
        <p:txBody>
          <a:bodyPr anchorCtr="0" anchor="t" bIns="45700" lIns="45700" spcFirstLastPara="1" rIns="45700" wrap="square" tIns="45700">
            <a:spAutoFit/>
          </a:bodyPr>
          <a:lstStyle/>
          <a:p>
            <a:pPr indent="-342900" lvl="0" marL="457200" rtl="0" algn="l">
              <a:spcBef>
                <a:spcPts val="0"/>
              </a:spcBef>
              <a:spcAft>
                <a:spcPts val="0"/>
              </a:spcAft>
              <a:buClr>
                <a:srgbClr val="535353"/>
              </a:buClr>
              <a:buSzPts val="1800"/>
              <a:buChar char="●"/>
            </a:pPr>
            <a:r>
              <a:rPr b="1" lang="en-US" sz="1800">
                <a:solidFill>
                  <a:srgbClr val="535353"/>
                </a:solidFill>
              </a:rPr>
              <a:t>Resultados Cuantitativos</a:t>
            </a:r>
            <a:endParaRPr b="1"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rPr lang="en-US" sz="1800">
                <a:solidFill>
                  <a:srgbClr val="535353"/>
                </a:solidFill>
              </a:rPr>
              <a:t>Nuestra solución no solo logra una cobertura del 100%, superando a las herramientas estándar, sino que lo hace con cero falsos positivos, un rendimiento viable para CI/CD y un coste marginal.</a:t>
            </a:r>
            <a:endParaRPr sz="1800">
              <a:solidFill>
                <a:srgbClr val="535353"/>
              </a:solidFill>
            </a:endParaRPr>
          </a:p>
        </p:txBody>
      </p:sp>
      <p:graphicFrame>
        <p:nvGraphicFramePr>
          <p:cNvPr id="235" name="Google Shape;235;g3a1980c8407_0_39"/>
          <p:cNvGraphicFramePr/>
          <p:nvPr/>
        </p:nvGraphicFramePr>
        <p:xfrm>
          <a:off x="942033" y="2127276"/>
          <a:ext cx="3000000" cy="3000000"/>
        </p:xfrm>
        <a:graphic>
          <a:graphicData uri="http://schemas.openxmlformats.org/drawingml/2006/table">
            <a:tbl>
              <a:tblPr>
                <a:noFill/>
                <a:tableStyleId>{878AAE2C-4EC4-44D2-8B41-817CE5654850}</a:tableStyleId>
              </a:tblPr>
              <a:tblGrid>
                <a:gridCol w="1523150"/>
                <a:gridCol w="1523150"/>
                <a:gridCol w="1523150"/>
                <a:gridCol w="1523150"/>
                <a:gridCol w="1523150"/>
              </a:tblGrid>
              <a:tr h="719175">
                <a:tc>
                  <a:txBody>
                    <a:bodyPr/>
                    <a:lstStyle/>
                    <a:p>
                      <a:pPr indent="0" lvl="0" marL="0" rtl="0" algn="ctr">
                        <a:spcBef>
                          <a:spcPts val="0"/>
                        </a:spcBef>
                        <a:spcAft>
                          <a:spcPts val="0"/>
                        </a:spcAft>
                        <a:buNone/>
                      </a:pPr>
                      <a:r>
                        <a:rPr b="1" lang="en-US">
                          <a:solidFill>
                            <a:srgbClr val="0098CD"/>
                          </a:solidFill>
                        </a:rPr>
                        <a:t>Herramienta</a:t>
                      </a:r>
                      <a:endParaRPr b="1">
                        <a:solidFill>
                          <a:srgbClr val="0098CD"/>
                        </a:solidFill>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0098CD"/>
                      </a:solidFill>
                      <a:prstDash val="solid"/>
                      <a:round/>
                      <a:headEnd len="sm" w="sm" type="none"/>
                      <a:tailEnd len="sm" w="sm" type="none"/>
                    </a:lnB>
                  </a:tcPr>
                </a:tc>
                <a:tc>
                  <a:txBody>
                    <a:bodyPr/>
                    <a:lstStyle/>
                    <a:p>
                      <a:pPr indent="0" lvl="0" marL="0" rtl="0" algn="ctr">
                        <a:spcBef>
                          <a:spcPts val="0"/>
                        </a:spcBef>
                        <a:spcAft>
                          <a:spcPts val="0"/>
                        </a:spcAft>
                        <a:buNone/>
                      </a:pPr>
                      <a:r>
                        <a:rPr b="1" lang="en-US">
                          <a:solidFill>
                            <a:srgbClr val="0098CD"/>
                          </a:solidFill>
                        </a:rPr>
                        <a:t>Detección</a:t>
                      </a:r>
                      <a:endParaRPr b="1">
                        <a:solidFill>
                          <a:srgbClr val="0098CD"/>
                        </a:solidFill>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0098CD"/>
                      </a:solidFill>
                      <a:prstDash val="solid"/>
                      <a:round/>
                      <a:headEnd len="sm" w="sm" type="none"/>
                      <a:tailEnd len="sm" w="sm" type="none"/>
                    </a:lnB>
                  </a:tcPr>
                </a:tc>
                <a:tc>
                  <a:txBody>
                    <a:bodyPr/>
                    <a:lstStyle/>
                    <a:p>
                      <a:pPr indent="0" lvl="0" marL="0" rtl="0" algn="ctr">
                        <a:spcBef>
                          <a:spcPts val="0"/>
                        </a:spcBef>
                        <a:spcAft>
                          <a:spcPts val="0"/>
                        </a:spcAft>
                        <a:buNone/>
                      </a:pPr>
                      <a:r>
                        <a:rPr b="1" lang="en-US">
                          <a:solidFill>
                            <a:srgbClr val="0098CD"/>
                          </a:solidFill>
                        </a:rPr>
                        <a:t>Tiempo de Análisis</a:t>
                      </a:r>
                      <a:endParaRPr b="1">
                        <a:solidFill>
                          <a:srgbClr val="0098CD"/>
                        </a:solidFill>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0098CD"/>
                      </a:solidFill>
                      <a:prstDash val="solid"/>
                      <a:round/>
                      <a:headEnd len="sm" w="sm" type="none"/>
                      <a:tailEnd len="sm" w="sm" type="none"/>
                    </a:lnB>
                  </a:tcPr>
                </a:tc>
                <a:tc>
                  <a:txBody>
                    <a:bodyPr/>
                    <a:lstStyle/>
                    <a:p>
                      <a:pPr indent="0" lvl="0" marL="0" rtl="0" algn="ctr">
                        <a:spcBef>
                          <a:spcPts val="0"/>
                        </a:spcBef>
                        <a:spcAft>
                          <a:spcPts val="0"/>
                        </a:spcAft>
                        <a:buNone/>
                      </a:pPr>
                      <a:r>
                        <a:rPr b="1" lang="en-US">
                          <a:solidFill>
                            <a:srgbClr val="0098CD"/>
                          </a:solidFill>
                        </a:rPr>
                        <a:t>Coste (Modelo a Escala)</a:t>
                      </a:r>
                      <a:endParaRPr b="1">
                        <a:solidFill>
                          <a:srgbClr val="0098CD"/>
                        </a:solidFill>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0098CD"/>
                      </a:solidFill>
                      <a:prstDash val="solid"/>
                      <a:round/>
                      <a:headEnd len="sm" w="sm" type="none"/>
                      <a:tailEnd len="sm" w="sm" type="none"/>
                    </a:lnB>
                  </a:tcPr>
                </a:tc>
                <a:tc>
                  <a:txBody>
                    <a:bodyPr/>
                    <a:lstStyle/>
                    <a:p>
                      <a:pPr indent="0" lvl="0" marL="0" rtl="0" algn="ctr">
                        <a:spcBef>
                          <a:spcPts val="0"/>
                        </a:spcBef>
                        <a:spcAft>
                          <a:spcPts val="0"/>
                        </a:spcAft>
                        <a:buNone/>
                      </a:pPr>
                      <a:r>
                        <a:rPr b="1" lang="en-US">
                          <a:solidFill>
                            <a:srgbClr val="0098CD"/>
                          </a:solidFill>
                        </a:rPr>
                        <a:t>Falsos Positivos</a:t>
                      </a:r>
                      <a:endParaRPr b="1">
                        <a:solidFill>
                          <a:srgbClr val="0098CD"/>
                        </a:solidFill>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0098CD"/>
                      </a:solidFill>
                      <a:prstDash val="solid"/>
                      <a:round/>
                      <a:headEnd len="sm" w="sm" type="none"/>
                      <a:tailEnd len="sm" w="sm" type="none"/>
                    </a:lnB>
                  </a:tcPr>
                </a:tc>
              </a:tr>
              <a:tr h="467450">
                <a:tc>
                  <a:txBody>
                    <a:bodyPr/>
                    <a:lstStyle/>
                    <a:p>
                      <a:pPr indent="0" lvl="0" marL="0" rtl="0" algn="ctr">
                        <a:spcBef>
                          <a:spcPts val="0"/>
                        </a:spcBef>
                        <a:spcAft>
                          <a:spcPts val="0"/>
                        </a:spcAft>
                        <a:buNone/>
                      </a:pPr>
                      <a:r>
                        <a:rPr lang="en-US"/>
                        <a:t>SonarQube</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98CD"/>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3 (23%)</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98CD"/>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 1 min</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98CD"/>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Infraestructura / Licencia</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98CD"/>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Bajo</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98CD"/>
                      </a:solidFill>
                      <a:prstDash val="solid"/>
                      <a:round/>
                      <a:headEnd len="sm" w="sm" type="none"/>
                      <a:tailEnd len="sm" w="sm" type="none"/>
                    </a:lnT>
                    <a:lnB cap="flat" cmpd="sng" w="9525">
                      <a:solidFill>
                        <a:schemeClr val="lt1"/>
                      </a:solidFill>
                      <a:prstDash val="solid"/>
                      <a:round/>
                      <a:headEnd len="sm" w="sm" type="none"/>
                      <a:tailEnd len="sm" w="sm" type="none"/>
                    </a:lnB>
                  </a:tcPr>
                </a:tc>
              </a:tr>
              <a:tr h="467450">
                <a:tc>
                  <a:txBody>
                    <a:bodyPr/>
                    <a:lstStyle/>
                    <a:p>
                      <a:pPr indent="0" lvl="0" marL="0" rtl="0" algn="ctr">
                        <a:spcBef>
                          <a:spcPts val="0"/>
                        </a:spcBef>
                        <a:spcAft>
                          <a:spcPts val="0"/>
                        </a:spcAft>
                        <a:buNone/>
                      </a:pPr>
                      <a:r>
                        <a:rPr lang="en-US"/>
                        <a:t>Snyk</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11 (85%)</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 2 min</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Licencia (por desarrollador)</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Bajo</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19175">
                <a:tc>
                  <a:txBody>
                    <a:bodyPr/>
                    <a:lstStyle/>
                    <a:p>
                      <a:pPr indent="0" lvl="0" marL="0" rtl="0" algn="ctr">
                        <a:spcBef>
                          <a:spcPts val="0"/>
                        </a:spcBef>
                        <a:spcAft>
                          <a:spcPts val="0"/>
                        </a:spcAft>
                        <a:buNone/>
                      </a:pPr>
                      <a:r>
                        <a:rPr b="1" lang="en-US">
                          <a:solidFill>
                            <a:srgbClr val="0098CD"/>
                          </a:solidFill>
                        </a:rPr>
                        <a:t>Nuestra IA (Gemini)</a:t>
                      </a:r>
                      <a:endParaRPr b="1">
                        <a:solidFill>
                          <a:srgbClr val="0098CD"/>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US">
                          <a:solidFill>
                            <a:srgbClr val="0098CD"/>
                          </a:solidFill>
                        </a:rPr>
                        <a:t>13 (100%)</a:t>
                      </a:r>
                      <a:endParaRPr b="1">
                        <a:solidFill>
                          <a:srgbClr val="0098CD"/>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US">
                          <a:solidFill>
                            <a:srgbClr val="0098CD"/>
                          </a:solidFill>
                        </a:rPr>
                        <a:t>~ 1 min 38 seg</a:t>
                      </a:r>
                      <a:endParaRPr b="1">
                        <a:solidFill>
                          <a:srgbClr val="0098CD"/>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US">
                          <a:solidFill>
                            <a:srgbClr val="0098CD"/>
                          </a:solidFill>
                        </a:rPr>
                        <a:t>Pago por Uso (API)</a:t>
                      </a:r>
                      <a:endParaRPr b="1">
                        <a:solidFill>
                          <a:srgbClr val="0098CD"/>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US">
                          <a:solidFill>
                            <a:srgbClr val="0098CD"/>
                          </a:solidFill>
                        </a:rPr>
                        <a:t>CERO</a:t>
                      </a:r>
                      <a:endParaRPr b="1">
                        <a:solidFill>
                          <a:srgbClr val="0098CD"/>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FE2F3"/>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a1980c8407_0_62"/>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41" name="Google Shape;241;g3a1980c8407_0_62"/>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6. Evaluación y Resultados.</a:t>
            </a:r>
            <a:endParaRPr b="1"/>
          </a:p>
        </p:txBody>
      </p:sp>
      <p:sp>
        <p:nvSpPr>
          <p:cNvPr id="242" name="Google Shape;242;g3a1980c8407_0_62"/>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43" name="Google Shape;243;g3a1980c8407_0_62"/>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pic>
        <p:nvPicPr>
          <p:cNvPr id="244" name="Google Shape;244;g3a1980c8407_0_62"/>
          <p:cNvPicPr preferRelativeResize="0"/>
          <p:nvPr/>
        </p:nvPicPr>
        <p:blipFill>
          <a:blip r:embed="rId3">
            <a:alphaModFix/>
          </a:blip>
          <a:stretch>
            <a:fillRect/>
          </a:stretch>
        </p:blipFill>
        <p:spPr>
          <a:xfrm>
            <a:off x="4562800" y="2206722"/>
            <a:ext cx="4581200" cy="4017096"/>
          </a:xfrm>
          <a:prstGeom prst="rect">
            <a:avLst/>
          </a:prstGeom>
          <a:noFill/>
          <a:ln>
            <a:noFill/>
          </a:ln>
        </p:spPr>
      </p:pic>
      <p:pic>
        <p:nvPicPr>
          <p:cNvPr id="245" name="Google Shape;245;g3a1980c8407_0_62"/>
          <p:cNvPicPr preferRelativeResize="0"/>
          <p:nvPr/>
        </p:nvPicPr>
        <p:blipFill rotWithShape="1">
          <a:blip r:embed="rId4">
            <a:alphaModFix/>
          </a:blip>
          <a:srcRect b="0" l="0" r="0" t="5105"/>
          <a:stretch/>
        </p:blipFill>
        <p:spPr>
          <a:xfrm>
            <a:off x="0" y="2266171"/>
            <a:ext cx="4581199" cy="3625925"/>
          </a:xfrm>
          <a:prstGeom prst="rect">
            <a:avLst/>
          </a:prstGeom>
          <a:noFill/>
          <a:ln>
            <a:noFill/>
          </a:ln>
        </p:spPr>
      </p:pic>
      <p:sp>
        <p:nvSpPr>
          <p:cNvPr id="246" name="Google Shape;246;g3a1980c8407_0_62"/>
          <p:cNvSpPr txBox="1"/>
          <p:nvPr/>
        </p:nvSpPr>
        <p:spPr>
          <a:xfrm>
            <a:off x="-100" y="1723566"/>
            <a:ext cx="4581300" cy="34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535353"/>
                </a:solidFill>
              </a:rPr>
              <a:t>Alerta Herramienta SAST Tradicional</a:t>
            </a:r>
            <a:endParaRPr b="1" sz="1800">
              <a:solidFill>
                <a:srgbClr val="535353"/>
              </a:solidFill>
            </a:endParaRPr>
          </a:p>
        </p:txBody>
      </p:sp>
      <p:sp>
        <p:nvSpPr>
          <p:cNvPr id="247" name="Google Shape;247;g3a1980c8407_0_62"/>
          <p:cNvSpPr txBox="1"/>
          <p:nvPr/>
        </p:nvSpPr>
        <p:spPr>
          <a:xfrm>
            <a:off x="4647050" y="1718946"/>
            <a:ext cx="4412700" cy="34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535353"/>
                </a:solidFill>
              </a:rPr>
              <a:t>Asistencia genera con la IA</a:t>
            </a:r>
            <a:endParaRPr b="1" sz="1800">
              <a:solidFill>
                <a:srgbClr val="535353"/>
              </a:solidFill>
            </a:endParaRPr>
          </a:p>
        </p:txBody>
      </p:sp>
      <p:sp>
        <p:nvSpPr>
          <p:cNvPr id="248" name="Google Shape;248;g3a1980c8407_0_62"/>
          <p:cNvSpPr txBox="1"/>
          <p:nvPr/>
        </p:nvSpPr>
        <p:spPr>
          <a:xfrm>
            <a:off x="301450" y="1164700"/>
            <a:ext cx="8381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en-US" sz="1800">
                <a:solidFill>
                  <a:schemeClr val="dk1"/>
                </a:solidFill>
              </a:rPr>
              <a:t>El valor real</a:t>
            </a:r>
            <a:r>
              <a:rPr b="1" lang="en-US" sz="1800">
                <a:solidFill>
                  <a:schemeClr val="dk1"/>
                </a:solidFill>
              </a:rPr>
              <a:t>: Análisis Cualitativo (Mostrar, no Contar)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641903a3dc_0_47"/>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54" name="Google Shape;254;g3641903a3dc_0_47"/>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7. Video Demostrativo</a:t>
            </a:r>
            <a:endParaRPr b="1"/>
          </a:p>
        </p:txBody>
      </p:sp>
      <p:sp>
        <p:nvSpPr>
          <p:cNvPr id="255" name="Google Shape;255;g3641903a3dc_0_47"/>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56" name="Google Shape;256;g3641903a3dc_0_47"/>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pic>
        <p:nvPicPr>
          <p:cNvPr id="257" name="Google Shape;257;g3641903a3dc_0_47" title="AI in Security CI/CD">
            <a:hlinkClick r:id="rId3"/>
          </p:cNvPr>
          <p:cNvPicPr preferRelativeResize="0"/>
          <p:nvPr/>
        </p:nvPicPr>
        <p:blipFill>
          <a:blip r:embed="rId4">
            <a:alphaModFix/>
          </a:blip>
          <a:stretch>
            <a:fillRect/>
          </a:stretch>
        </p:blipFill>
        <p:spPr>
          <a:xfrm>
            <a:off x="177475" y="1121500"/>
            <a:ext cx="8771225" cy="4933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66391e8495_0_62"/>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63" name="Google Shape;263;g366391e8495_0_62"/>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8. Conclusiones</a:t>
            </a:r>
            <a:endParaRPr b="1"/>
          </a:p>
        </p:txBody>
      </p:sp>
      <p:sp>
        <p:nvSpPr>
          <p:cNvPr id="264" name="Google Shape;264;g366391e8495_0_62"/>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65" name="Google Shape;265;g366391e8495_0_62"/>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66" name="Google Shape;266;g366391e8495_0_62"/>
          <p:cNvSpPr txBox="1"/>
          <p:nvPr/>
        </p:nvSpPr>
        <p:spPr>
          <a:xfrm>
            <a:off x="1377608" y="1484300"/>
            <a:ext cx="2544000" cy="3694200"/>
          </a:xfrm>
          <a:prstGeom prst="rect">
            <a:avLst/>
          </a:prstGeom>
          <a:noFill/>
          <a:ln>
            <a:noFill/>
          </a:ln>
        </p:spPr>
        <p:txBody>
          <a:bodyPr anchorCtr="0" anchor="t" bIns="45700" lIns="45700" spcFirstLastPara="1" rIns="45700" wrap="square" tIns="45700">
            <a:spAutoFit/>
          </a:bodyPr>
          <a:lstStyle/>
          <a:p>
            <a:pPr indent="0" lvl="0" marL="0" rtl="0" algn="l">
              <a:lnSpc>
                <a:spcPct val="100000"/>
              </a:lnSpc>
              <a:spcBef>
                <a:spcPts val="0"/>
              </a:spcBef>
              <a:spcAft>
                <a:spcPts val="0"/>
              </a:spcAft>
              <a:buNone/>
            </a:pPr>
            <a:r>
              <a:rPr b="1" lang="en-US" sz="1800">
                <a:solidFill>
                  <a:srgbClr val="535353"/>
                </a:solidFill>
              </a:rPr>
              <a:t>DEMOSTRADO</a:t>
            </a:r>
            <a:endParaRPr b="1" sz="1800">
              <a:solidFill>
                <a:srgbClr val="4A4A4A"/>
              </a:solidFill>
            </a:endParaRPr>
          </a:p>
          <a:p>
            <a:pPr indent="0" lvl="0" marL="0" rtl="0" algn="l">
              <a:lnSpc>
                <a:spcPct val="100000"/>
              </a:lnSpc>
              <a:spcBef>
                <a:spcPts val="0"/>
              </a:spcBef>
              <a:spcAft>
                <a:spcPts val="0"/>
              </a:spcAft>
              <a:buNone/>
            </a:pPr>
            <a:r>
              <a:rPr lang="en-US" sz="1800">
                <a:solidFill>
                  <a:srgbClr val="4A4A4A"/>
                </a:solidFill>
              </a:rPr>
              <a:t>Viable y superior</a:t>
            </a:r>
            <a:endParaRPr sz="1800">
              <a:solidFill>
                <a:srgbClr val="4A4A4A"/>
              </a:solidFill>
            </a:endParaRPr>
          </a:p>
          <a:p>
            <a:pPr indent="0" lvl="0" marL="0" rtl="0" algn="l">
              <a:lnSpc>
                <a:spcPct val="100000"/>
              </a:lnSpc>
              <a:spcBef>
                <a:spcPts val="0"/>
              </a:spcBef>
              <a:spcAft>
                <a:spcPts val="0"/>
              </a:spcAft>
              <a:buNone/>
            </a:pPr>
            <a:r>
              <a:t/>
            </a:r>
            <a:endParaRPr sz="1800">
              <a:solidFill>
                <a:srgbClr val="4A4A4A"/>
              </a:solidFill>
            </a:endParaRPr>
          </a:p>
          <a:p>
            <a:pPr indent="0" lvl="0" marL="0" rtl="0" algn="l">
              <a:lnSpc>
                <a:spcPct val="100000"/>
              </a:lnSpc>
              <a:spcBef>
                <a:spcPts val="0"/>
              </a:spcBef>
              <a:spcAft>
                <a:spcPts val="0"/>
              </a:spcAft>
              <a:buNone/>
            </a:pPr>
            <a:r>
              <a:t/>
            </a:r>
            <a:endParaRPr b="1" sz="1800">
              <a:solidFill>
                <a:srgbClr val="4A4A4A"/>
              </a:solidFill>
            </a:endParaRPr>
          </a:p>
          <a:p>
            <a:pPr indent="0" lvl="0" marL="0" rtl="0" algn="l">
              <a:lnSpc>
                <a:spcPct val="100000"/>
              </a:lnSpc>
              <a:spcBef>
                <a:spcPts val="0"/>
              </a:spcBef>
              <a:spcAft>
                <a:spcPts val="0"/>
              </a:spcAft>
              <a:buNone/>
            </a:pPr>
            <a:r>
              <a:t/>
            </a:r>
            <a:endParaRPr b="1" sz="1800">
              <a:solidFill>
                <a:srgbClr val="4A4A4A"/>
              </a:solidFill>
            </a:endParaRPr>
          </a:p>
          <a:p>
            <a:pPr indent="0" lvl="0" marL="0" rtl="0" algn="l">
              <a:lnSpc>
                <a:spcPct val="100000"/>
              </a:lnSpc>
              <a:spcBef>
                <a:spcPts val="0"/>
              </a:spcBef>
              <a:spcAft>
                <a:spcPts val="0"/>
              </a:spcAft>
              <a:buNone/>
            </a:pPr>
            <a:r>
              <a:rPr b="1" lang="en-US" sz="1800">
                <a:solidFill>
                  <a:srgbClr val="4A4A4A"/>
                </a:solidFill>
              </a:rPr>
              <a:t>APORTACIÓN</a:t>
            </a:r>
            <a:endParaRPr b="1" sz="1800">
              <a:solidFill>
                <a:srgbClr val="4A4A4A"/>
              </a:solidFill>
            </a:endParaRPr>
          </a:p>
          <a:p>
            <a:pPr indent="0" lvl="0" marL="0" rtl="0" algn="l">
              <a:lnSpc>
                <a:spcPct val="100000"/>
              </a:lnSpc>
              <a:spcBef>
                <a:spcPts val="0"/>
              </a:spcBef>
              <a:spcAft>
                <a:spcPts val="0"/>
              </a:spcAft>
              <a:buNone/>
            </a:pPr>
            <a:r>
              <a:rPr lang="en-US" sz="1800">
                <a:solidFill>
                  <a:srgbClr val="4A4A4A"/>
                </a:solidFill>
              </a:rPr>
              <a:t>De barrera a acelerador</a:t>
            </a:r>
            <a:endParaRPr sz="1800">
              <a:solidFill>
                <a:srgbClr val="4A4A4A"/>
              </a:solidFill>
            </a:endParaRPr>
          </a:p>
          <a:p>
            <a:pPr indent="0" lvl="0" marL="0" rtl="0" algn="l">
              <a:lnSpc>
                <a:spcPct val="100000"/>
              </a:lnSpc>
              <a:spcBef>
                <a:spcPts val="0"/>
              </a:spcBef>
              <a:spcAft>
                <a:spcPts val="0"/>
              </a:spcAft>
              <a:buNone/>
            </a:pPr>
            <a:r>
              <a:t/>
            </a:r>
            <a:endParaRPr sz="1800">
              <a:solidFill>
                <a:srgbClr val="4A4A4A"/>
              </a:solidFill>
            </a:endParaRPr>
          </a:p>
          <a:p>
            <a:pPr indent="0" lvl="0" marL="0" rtl="0" algn="l">
              <a:lnSpc>
                <a:spcPct val="100000"/>
              </a:lnSpc>
              <a:spcBef>
                <a:spcPts val="0"/>
              </a:spcBef>
              <a:spcAft>
                <a:spcPts val="0"/>
              </a:spcAft>
              <a:buNone/>
            </a:pPr>
            <a:r>
              <a:t/>
            </a:r>
            <a:endParaRPr sz="1800">
              <a:solidFill>
                <a:srgbClr val="4A4A4A"/>
              </a:solidFill>
            </a:endParaRPr>
          </a:p>
          <a:p>
            <a:pPr indent="0" lvl="0" marL="0" rtl="0" algn="l">
              <a:lnSpc>
                <a:spcPct val="100000"/>
              </a:lnSpc>
              <a:spcBef>
                <a:spcPts val="0"/>
              </a:spcBef>
              <a:spcAft>
                <a:spcPts val="0"/>
              </a:spcAft>
              <a:buNone/>
            </a:pPr>
            <a:r>
              <a:t/>
            </a:r>
            <a:endParaRPr sz="1800">
              <a:solidFill>
                <a:srgbClr val="4A4A4A"/>
              </a:solidFill>
            </a:endParaRPr>
          </a:p>
          <a:p>
            <a:pPr indent="0" lvl="0" marL="0" rtl="0" algn="l">
              <a:lnSpc>
                <a:spcPct val="100000"/>
              </a:lnSpc>
              <a:spcBef>
                <a:spcPts val="0"/>
              </a:spcBef>
              <a:spcAft>
                <a:spcPts val="0"/>
              </a:spcAft>
              <a:buNone/>
            </a:pPr>
            <a:r>
              <a:rPr b="1" lang="en-US" sz="1800">
                <a:solidFill>
                  <a:srgbClr val="4A4A4A"/>
                </a:solidFill>
              </a:rPr>
              <a:t>IMPACTO</a:t>
            </a:r>
            <a:endParaRPr b="1" sz="1800">
              <a:solidFill>
                <a:srgbClr val="4A4A4A"/>
              </a:solidFill>
            </a:endParaRPr>
          </a:p>
          <a:p>
            <a:pPr indent="0" lvl="0" marL="0" rtl="0" algn="l">
              <a:lnSpc>
                <a:spcPct val="100000"/>
              </a:lnSpc>
              <a:spcBef>
                <a:spcPts val="0"/>
              </a:spcBef>
              <a:spcAft>
                <a:spcPts val="0"/>
              </a:spcAft>
              <a:buNone/>
            </a:pPr>
            <a:r>
              <a:rPr lang="en-US" sz="1800">
                <a:solidFill>
                  <a:srgbClr val="4A4A4A"/>
                </a:solidFill>
              </a:rPr>
              <a:t>Cultura proactiva</a:t>
            </a:r>
            <a:endParaRPr sz="1800">
              <a:solidFill>
                <a:srgbClr val="4A4A4A"/>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sp>
        <p:nvSpPr>
          <p:cNvPr id="267" name="Google Shape;267;g366391e8495_0_62"/>
          <p:cNvSpPr txBox="1"/>
          <p:nvPr/>
        </p:nvSpPr>
        <p:spPr>
          <a:xfrm>
            <a:off x="1005875" y="5537575"/>
            <a:ext cx="74793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35353"/>
                </a:solidFill>
              </a:rPr>
              <a:t>No solo encontramos más vulnerabilidades, sino que facilitamos su corrección y construimos conocimiento.</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8" name="Google Shape;268;g366391e8495_0_62"/>
          <p:cNvSpPr txBox="1"/>
          <p:nvPr/>
        </p:nvSpPr>
        <p:spPr>
          <a:xfrm>
            <a:off x="4572000" y="1437200"/>
            <a:ext cx="4338300" cy="43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35353"/>
                </a:solidFill>
              </a:rPr>
              <a:t>100% Detección vs 85% Snyk</a:t>
            </a:r>
            <a:endParaRPr sz="1800">
              <a:solidFill>
                <a:srgbClr val="535353"/>
              </a:solidFill>
            </a:endParaRPr>
          </a:p>
          <a:p>
            <a:pPr indent="0" lvl="0" marL="0" rtl="0" algn="l">
              <a:spcBef>
                <a:spcPts val="0"/>
              </a:spcBef>
              <a:spcAft>
                <a:spcPts val="0"/>
              </a:spcAft>
              <a:buNone/>
            </a:pPr>
            <a:r>
              <a:rPr lang="en-US" sz="1800">
                <a:solidFill>
                  <a:srgbClr val="535353"/>
                </a:solidFill>
              </a:rPr>
              <a:t>Rendimiento y Coste Viables.</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lang="en-US" sz="1800">
                <a:solidFill>
                  <a:srgbClr val="535353"/>
                </a:solidFill>
              </a:rPr>
              <a:t>Alertas Genéricas ➔ Guías Accionables</a:t>
            </a:r>
            <a:endParaRPr sz="1800">
              <a:solidFill>
                <a:srgbClr val="535353"/>
              </a:solidFill>
            </a:endParaRPr>
          </a:p>
          <a:p>
            <a:pPr indent="0" lvl="0" marL="0" rtl="0" algn="l">
              <a:spcBef>
                <a:spcPts val="0"/>
              </a:spcBef>
              <a:spcAft>
                <a:spcPts val="0"/>
              </a:spcAft>
              <a:buNone/>
            </a:pPr>
            <a:r>
              <a:rPr lang="en-US" sz="1800">
                <a:solidFill>
                  <a:srgbClr val="535353"/>
                </a:solidFill>
              </a:rPr>
              <a:t>Reduce Fatiga por Alertas.</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t/>
            </a:r>
            <a:endParaRPr sz="1800">
              <a:solidFill>
                <a:srgbClr val="535353"/>
              </a:solidFill>
            </a:endParaRPr>
          </a:p>
          <a:p>
            <a:pPr indent="0" lvl="0" marL="0" rtl="0" algn="l">
              <a:spcBef>
                <a:spcPts val="0"/>
              </a:spcBef>
              <a:spcAft>
                <a:spcPts val="0"/>
              </a:spcAft>
              <a:buNone/>
            </a:pPr>
            <a:r>
              <a:rPr lang="en-US" sz="1800">
                <a:solidFill>
                  <a:srgbClr val="535353"/>
                </a:solidFill>
              </a:rPr>
              <a:t>"Experto Virtual" que enseña el "porqué"</a:t>
            </a:r>
            <a:endParaRPr sz="1800">
              <a:solidFill>
                <a:srgbClr val="535353"/>
              </a:solidFill>
            </a:endParaRPr>
          </a:p>
          <a:p>
            <a:pPr indent="0" lvl="0" marL="0" rtl="0" algn="l">
              <a:spcBef>
                <a:spcPts val="0"/>
              </a:spcBef>
              <a:spcAft>
                <a:spcPts val="0"/>
              </a:spcAft>
              <a:buNone/>
            </a:pPr>
            <a:r>
              <a:rPr lang="en-US" sz="1800">
                <a:solidFill>
                  <a:srgbClr val="535353"/>
                </a:solidFill>
              </a:rPr>
              <a:t>Mejora continua del equipo.</a:t>
            </a:r>
            <a:endParaRPr/>
          </a:p>
          <a:p>
            <a:pPr indent="0" lvl="0" marL="0" rtl="0" algn="l">
              <a:spcBef>
                <a:spcPts val="0"/>
              </a:spcBef>
              <a:spcAft>
                <a:spcPts val="0"/>
              </a:spcAft>
              <a:buNone/>
            </a:pPr>
            <a:r>
              <a:t/>
            </a:r>
            <a:endParaRPr/>
          </a:p>
        </p:txBody>
      </p:sp>
      <p:pic>
        <p:nvPicPr>
          <p:cNvPr id="269" name="Google Shape;269;g366391e8495_0_62"/>
          <p:cNvPicPr preferRelativeResize="0"/>
          <p:nvPr/>
        </p:nvPicPr>
        <p:blipFill>
          <a:blip r:embed="rId3">
            <a:alphaModFix/>
          </a:blip>
          <a:stretch>
            <a:fillRect/>
          </a:stretch>
        </p:blipFill>
        <p:spPr>
          <a:xfrm>
            <a:off x="363400" y="1459666"/>
            <a:ext cx="788250" cy="788250"/>
          </a:xfrm>
          <a:prstGeom prst="rect">
            <a:avLst/>
          </a:prstGeom>
          <a:noFill/>
          <a:ln>
            <a:noFill/>
          </a:ln>
        </p:spPr>
      </p:pic>
      <p:pic>
        <p:nvPicPr>
          <p:cNvPr id="270" name="Google Shape;270;g366391e8495_0_62"/>
          <p:cNvPicPr preferRelativeResize="0"/>
          <p:nvPr/>
        </p:nvPicPr>
        <p:blipFill>
          <a:blip r:embed="rId4">
            <a:alphaModFix/>
          </a:blip>
          <a:stretch>
            <a:fillRect/>
          </a:stretch>
        </p:blipFill>
        <p:spPr>
          <a:xfrm>
            <a:off x="363400" y="2777125"/>
            <a:ext cx="788250" cy="788250"/>
          </a:xfrm>
          <a:prstGeom prst="rect">
            <a:avLst/>
          </a:prstGeom>
          <a:noFill/>
          <a:ln>
            <a:noFill/>
          </a:ln>
        </p:spPr>
      </p:pic>
      <p:pic>
        <p:nvPicPr>
          <p:cNvPr id="271" name="Google Shape;271;g366391e8495_0_62"/>
          <p:cNvPicPr preferRelativeResize="0"/>
          <p:nvPr/>
        </p:nvPicPr>
        <p:blipFill>
          <a:blip r:embed="rId5">
            <a:alphaModFix/>
          </a:blip>
          <a:stretch>
            <a:fillRect/>
          </a:stretch>
        </p:blipFill>
        <p:spPr>
          <a:xfrm>
            <a:off x="330788" y="4154882"/>
            <a:ext cx="853475" cy="853475"/>
          </a:xfrm>
          <a:prstGeom prst="rect">
            <a:avLst/>
          </a:prstGeom>
          <a:noFill/>
          <a:ln>
            <a:noFill/>
          </a:ln>
        </p:spPr>
      </p:pic>
      <p:cxnSp>
        <p:nvCxnSpPr>
          <p:cNvPr id="272" name="Google Shape;272;g366391e8495_0_62"/>
          <p:cNvCxnSpPr/>
          <p:nvPr/>
        </p:nvCxnSpPr>
        <p:spPr>
          <a:xfrm>
            <a:off x="4207825" y="1512550"/>
            <a:ext cx="0" cy="3330900"/>
          </a:xfrm>
          <a:prstGeom prst="straightConnector1">
            <a:avLst/>
          </a:prstGeom>
          <a:noFill/>
          <a:ln cap="flat" cmpd="sng" w="9525">
            <a:solidFill>
              <a:srgbClr val="0098CD"/>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819cde219b_1_20"/>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78" name="Google Shape;278;g3819cde219b_1_20"/>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8. Trabajo Futuro</a:t>
            </a:r>
            <a:endParaRPr b="1"/>
          </a:p>
        </p:txBody>
      </p:sp>
      <p:sp>
        <p:nvSpPr>
          <p:cNvPr id="279" name="Google Shape;279;g3819cde219b_1_20"/>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80" name="Google Shape;280;g3819cde219b_1_20"/>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pic>
        <p:nvPicPr>
          <p:cNvPr id="281" name="Google Shape;281;g3819cde219b_1_20" title="Gemini_Generated_Image_p29ehmp29ehmp29e (1).png"/>
          <p:cNvPicPr preferRelativeResize="0"/>
          <p:nvPr/>
        </p:nvPicPr>
        <p:blipFill>
          <a:blip r:embed="rId3">
            <a:alphaModFix/>
          </a:blip>
          <a:stretch>
            <a:fillRect/>
          </a:stretch>
        </p:blipFill>
        <p:spPr>
          <a:xfrm>
            <a:off x="5695600" y="1746400"/>
            <a:ext cx="3816975" cy="3816950"/>
          </a:xfrm>
          <a:prstGeom prst="rect">
            <a:avLst/>
          </a:prstGeom>
          <a:noFill/>
          <a:ln>
            <a:noFill/>
          </a:ln>
        </p:spPr>
      </p:pic>
      <p:sp>
        <p:nvSpPr>
          <p:cNvPr id="282" name="Google Shape;282;g3819cde219b_1_20"/>
          <p:cNvSpPr txBox="1"/>
          <p:nvPr/>
        </p:nvSpPr>
        <p:spPr>
          <a:xfrm>
            <a:off x="320175" y="1282475"/>
            <a:ext cx="6197100" cy="4833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2000">
                <a:solidFill>
                  <a:srgbClr val="535353"/>
                </a:solidFill>
              </a:rPr>
              <a:t>Evolución del Prototipo</a:t>
            </a:r>
            <a:endParaRPr b="1" sz="2000">
              <a:solidFill>
                <a:srgbClr val="535353"/>
              </a:solidFill>
            </a:endParaRPr>
          </a:p>
          <a:p>
            <a:pPr indent="0" lvl="0" marL="0" rtl="0" algn="l">
              <a:spcBef>
                <a:spcPts val="0"/>
              </a:spcBef>
              <a:spcAft>
                <a:spcPts val="0"/>
              </a:spcAft>
              <a:buNone/>
            </a:pPr>
            <a:r>
              <a:rPr b="1" lang="en-US" sz="1800">
                <a:solidFill>
                  <a:srgbClr val="535353"/>
                </a:solidFill>
              </a:rPr>
              <a:t> </a:t>
            </a:r>
            <a:endParaRPr b="1"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Análisis Interactivo (IAST/DAST):</a:t>
            </a:r>
            <a:r>
              <a:rPr lang="en-US" sz="1800">
                <a:solidFill>
                  <a:srgbClr val="535353"/>
                </a:solidFill>
              </a:rPr>
              <a:t> Integrar análisis en tiempo de ejecución para un contexto más profundo.</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Integración con Gestores de Incidencias: </a:t>
            </a:r>
            <a:r>
              <a:rPr lang="en-US" sz="1800">
                <a:solidFill>
                  <a:srgbClr val="535353"/>
                </a:solidFill>
              </a:rPr>
              <a:t>Crear automáticamente tickets en Jira o GitLab.</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"Fine-Tuning" de Modelos de IA: </a:t>
            </a:r>
            <a:r>
              <a:rPr lang="en-US" sz="1800">
                <a:solidFill>
                  <a:srgbClr val="535353"/>
                </a:solidFill>
              </a:rPr>
              <a:t>Entrenar un modelo especializado para mayor precisión y eficiencia.</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Soporte Multi-Lenguaje: </a:t>
            </a:r>
            <a:r>
              <a:rPr lang="en-US" sz="1800">
                <a:solidFill>
                  <a:srgbClr val="535353"/>
                </a:solidFill>
              </a:rPr>
              <a:t>Extender el análisis a Python, Go o JavaScript.</a:t>
            </a:r>
            <a:endParaRPr sz="1800">
              <a:solidFill>
                <a:srgbClr val="535353"/>
              </a:solidFill>
            </a:endParaRPr>
          </a:p>
          <a:p>
            <a:pPr indent="0" lvl="0" marL="914400" rtl="0" algn="l">
              <a:spcBef>
                <a:spcPts val="0"/>
              </a:spcBef>
              <a:spcAft>
                <a:spcPts val="0"/>
              </a:spcAft>
              <a:buNone/>
            </a:pPr>
            <a:r>
              <a:t/>
            </a:r>
            <a:endParaRPr sz="1800">
              <a:solidFill>
                <a:srgbClr val="535353"/>
              </a:solidFill>
            </a:endParaRPr>
          </a:p>
          <a:p>
            <a:pPr indent="-342900" lvl="1" marL="457200" rtl="0" algn="l">
              <a:spcBef>
                <a:spcPts val="0"/>
              </a:spcBef>
              <a:spcAft>
                <a:spcPts val="0"/>
              </a:spcAft>
              <a:buClr>
                <a:srgbClr val="535353"/>
              </a:buClr>
              <a:buSzPts val="1800"/>
              <a:buChar char="○"/>
            </a:pPr>
            <a:r>
              <a:rPr b="1" lang="en-US" sz="1800">
                <a:solidFill>
                  <a:srgbClr val="535353"/>
                </a:solidFill>
              </a:rPr>
              <a:t>Mecanismo de Retroalimentación: </a:t>
            </a:r>
            <a:r>
              <a:rPr lang="en-US" sz="1800">
                <a:solidFill>
                  <a:srgbClr val="535353"/>
                </a:solidFill>
              </a:rPr>
              <a:t>Permitir que los desarrolladores califiquen las sugerencias para un aprendizaje continuo.</a:t>
            </a:r>
            <a:endParaRPr b="1" sz="1800">
              <a:solidFill>
                <a:srgbClr val="53535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7c740b1bcb_0_70"/>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88" name="Google Shape;288;g37c740b1bcb_0_70"/>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¿Preguntas?</a:t>
            </a:r>
            <a:endParaRPr b="1"/>
          </a:p>
        </p:txBody>
      </p:sp>
      <p:sp>
        <p:nvSpPr>
          <p:cNvPr id="289" name="Google Shape;289;g37c740b1bcb_0_70"/>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90" name="Google Shape;290;g37c740b1bcb_0_70"/>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291" name="Google Shape;291;g37c740b1bcb_0_70"/>
          <p:cNvSpPr txBox="1"/>
          <p:nvPr/>
        </p:nvSpPr>
        <p:spPr>
          <a:xfrm>
            <a:off x="804862" y="1484312"/>
            <a:ext cx="7500900" cy="923400"/>
          </a:xfrm>
          <a:prstGeom prst="rect">
            <a:avLst/>
          </a:prstGeom>
          <a:noFill/>
          <a:ln>
            <a:noFill/>
          </a:ln>
        </p:spPr>
        <p:txBody>
          <a:bodyPr anchorCtr="0" anchor="t" bIns="45700" lIns="45700" spcFirstLastPara="1" rIns="45700" wrap="square" tIns="45700">
            <a:spAutoFit/>
          </a:bodyPr>
          <a:lstStyle/>
          <a:p>
            <a:pPr indent="-342900" lvl="0" marL="457200" rtl="0" algn="l">
              <a:spcBef>
                <a:spcPts val="0"/>
              </a:spcBef>
              <a:spcAft>
                <a:spcPts val="0"/>
              </a:spcAft>
              <a:buClr>
                <a:srgbClr val="535353"/>
              </a:buClr>
              <a:buSzPts val="1800"/>
              <a:buChar char="●"/>
            </a:pPr>
            <a:r>
              <a:rPr b="1" lang="en-US" sz="1800">
                <a:solidFill>
                  <a:srgbClr val="535353"/>
                </a:solidFill>
              </a:rPr>
              <a:t>Marco Gutama - paul.gutama@gmail.com</a:t>
            </a:r>
            <a:endParaRPr b="1" sz="1800">
              <a:solidFill>
                <a:srgbClr val="535353"/>
              </a:solidFill>
            </a:endParaRPr>
          </a:p>
          <a:p>
            <a:pPr indent="-342900" lvl="0" marL="457200" rtl="0" algn="l">
              <a:spcBef>
                <a:spcPts val="0"/>
              </a:spcBef>
              <a:spcAft>
                <a:spcPts val="0"/>
              </a:spcAft>
              <a:buClr>
                <a:srgbClr val="535353"/>
              </a:buClr>
              <a:buSzPts val="1800"/>
              <a:buChar char="●"/>
            </a:pPr>
            <a:r>
              <a:rPr b="1" lang="en-US" sz="1800">
                <a:solidFill>
                  <a:srgbClr val="535353"/>
                </a:solidFill>
              </a:rPr>
              <a:t>Jonnathan Peñaranda - ijonnathanesteban@gmail.com</a:t>
            </a:r>
            <a:endParaRPr b="1" sz="1800">
              <a:solidFill>
                <a:srgbClr val="535353"/>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pic>
        <p:nvPicPr>
          <p:cNvPr id="292" name="Google Shape;292;g37c740b1bcb_0_70"/>
          <p:cNvPicPr preferRelativeResize="0"/>
          <p:nvPr/>
        </p:nvPicPr>
        <p:blipFill rotWithShape="1">
          <a:blip r:embed="rId3">
            <a:alphaModFix/>
          </a:blip>
          <a:srcRect b="0" l="0" r="0" t="0"/>
          <a:stretch/>
        </p:blipFill>
        <p:spPr>
          <a:xfrm>
            <a:off x="2156613" y="2407712"/>
            <a:ext cx="3340895" cy="23026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66391e8495_0_52"/>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298" name="Google Shape;298;g366391e8495_0_52"/>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6. Evaluación y Resultados.</a:t>
            </a:r>
            <a:endParaRPr b="1"/>
          </a:p>
        </p:txBody>
      </p:sp>
      <p:sp>
        <p:nvSpPr>
          <p:cNvPr id="299" name="Google Shape;299;g366391e8495_0_52"/>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300" name="Google Shape;300;g366391e8495_0_52"/>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301" name="Google Shape;301;g366391e8495_0_52"/>
          <p:cNvSpPr txBox="1"/>
          <p:nvPr/>
        </p:nvSpPr>
        <p:spPr>
          <a:xfrm>
            <a:off x="804862" y="1484312"/>
            <a:ext cx="7500900" cy="1754700"/>
          </a:xfrm>
          <a:prstGeom prst="rect">
            <a:avLst/>
          </a:prstGeom>
          <a:noFill/>
          <a:ln>
            <a:noFill/>
          </a:ln>
        </p:spPr>
        <p:txBody>
          <a:bodyPr anchorCtr="0" anchor="t" bIns="45700" lIns="45700" spcFirstLastPara="1" rIns="45700" wrap="square" tIns="45700">
            <a:spAutoFit/>
          </a:bodyPr>
          <a:lstStyle/>
          <a:p>
            <a:pPr indent="-342900" lvl="0" marL="457200" rtl="0" algn="l">
              <a:spcBef>
                <a:spcPts val="0"/>
              </a:spcBef>
              <a:spcAft>
                <a:spcPts val="0"/>
              </a:spcAft>
              <a:buClr>
                <a:srgbClr val="535353"/>
              </a:buClr>
              <a:buSzPts val="1800"/>
              <a:buChar char="●"/>
            </a:pPr>
            <a:r>
              <a:rPr b="1" lang="en-US" sz="1800">
                <a:solidFill>
                  <a:srgbClr val="535353"/>
                </a:solidFill>
              </a:rPr>
              <a:t>Comparativa rendimiento</a:t>
            </a:r>
            <a:r>
              <a:rPr b="1" lang="en-US" sz="1800">
                <a:solidFill>
                  <a:srgbClr val="535353"/>
                </a:solidFill>
              </a:rPr>
              <a:t>:</a:t>
            </a:r>
            <a:endParaRPr b="1" sz="1800">
              <a:solidFill>
                <a:srgbClr val="535353"/>
              </a:solidFill>
            </a:endParaRPr>
          </a:p>
          <a:p>
            <a:pPr indent="0" lvl="0" marL="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pic>
        <p:nvPicPr>
          <p:cNvPr id="302" name="Google Shape;302;g366391e8495_0_52"/>
          <p:cNvPicPr preferRelativeResize="0"/>
          <p:nvPr/>
        </p:nvPicPr>
        <p:blipFill>
          <a:blip r:embed="rId3">
            <a:alphaModFix/>
          </a:blip>
          <a:stretch>
            <a:fillRect/>
          </a:stretch>
        </p:blipFill>
        <p:spPr>
          <a:xfrm>
            <a:off x="998250" y="2275437"/>
            <a:ext cx="6629400" cy="18363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66391e8495_0_37"/>
          <p:cNvSpPr txBox="1"/>
          <p:nvPr/>
        </p:nvSpPr>
        <p:spPr>
          <a:xfrm>
            <a:off x="8485187" y="6559550"/>
            <a:ext cx="2730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308" name="Google Shape;308;g366391e8495_0_37"/>
          <p:cNvSpPr txBox="1"/>
          <p:nvPr/>
        </p:nvSpPr>
        <p:spPr>
          <a:xfrm>
            <a:off x="446087" y="227012"/>
            <a:ext cx="78756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8CD"/>
              </a:buClr>
              <a:buSzPts val="2800"/>
              <a:buFont typeface="Arial"/>
              <a:buNone/>
            </a:pPr>
            <a:r>
              <a:rPr b="1" lang="en-US" sz="2800">
                <a:solidFill>
                  <a:srgbClr val="0098CD"/>
                </a:solidFill>
              </a:rPr>
              <a:t>6. Evaluación y Resultados.</a:t>
            </a:r>
            <a:endParaRPr b="1"/>
          </a:p>
        </p:txBody>
      </p:sp>
      <p:sp>
        <p:nvSpPr>
          <p:cNvPr id="309" name="Google Shape;309;g366391e8495_0_37"/>
          <p:cNvSpPr txBox="1"/>
          <p:nvPr/>
        </p:nvSpPr>
        <p:spPr>
          <a:xfrm>
            <a:off x="8485187" y="6559550"/>
            <a:ext cx="273000" cy="1731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a:solidFill>
                  <a:srgbClr val="FFFFFF"/>
                </a:solidFill>
                <a:latin typeface="Arial"/>
                <a:ea typeface="Arial"/>
                <a:cs typeface="Arial"/>
                <a:sym typeface="Arial"/>
              </a:rPr>
              <a:t>‹#›</a:t>
            </a:fld>
            <a:endParaRPr/>
          </a:p>
        </p:txBody>
      </p:sp>
      <p:sp>
        <p:nvSpPr>
          <p:cNvPr id="310" name="Google Shape;310;g366391e8495_0_37"/>
          <p:cNvSpPr txBox="1"/>
          <p:nvPr/>
        </p:nvSpPr>
        <p:spPr>
          <a:xfrm>
            <a:off x="0" y="911103"/>
            <a:ext cx="9144000" cy="49500"/>
          </a:xfrm>
          <a:prstGeom prst="rect">
            <a:avLst/>
          </a:prstGeom>
          <a:solidFill>
            <a:srgbClr val="0098C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rgbClr val="535353"/>
              </a:solidFill>
              <a:latin typeface="Arial"/>
              <a:ea typeface="Arial"/>
              <a:cs typeface="Arial"/>
              <a:sym typeface="Arial"/>
            </a:endParaRPr>
          </a:p>
        </p:txBody>
      </p:sp>
      <p:sp>
        <p:nvSpPr>
          <p:cNvPr id="311" name="Google Shape;311;g366391e8495_0_37"/>
          <p:cNvSpPr txBox="1"/>
          <p:nvPr/>
        </p:nvSpPr>
        <p:spPr>
          <a:xfrm>
            <a:off x="804862" y="1484312"/>
            <a:ext cx="7500900" cy="1754700"/>
          </a:xfrm>
          <a:prstGeom prst="rect">
            <a:avLst/>
          </a:prstGeom>
          <a:noFill/>
          <a:ln>
            <a:noFill/>
          </a:ln>
        </p:spPr>
        <p:txBody>
          <a:bodyPr anchorCtr="0" anchor="t" bIns="45700" lIns="45700" spcFirstLastPara="1" rIns="45700" wrap="square" tIns="45700">
            <a:spAutoFit/>
          </a:bodyPr>
          <a:lstStyle/>
          <a:p>
            <a:pPr indent="-342900" lvl="0" marL="457200" rtl="0" algn="l">
              <a:spcBef>
                <a:spcPts val="0"/>
              </a:spcBef>
              <a:spcAft>
                <a:spcPts val="0"/>
              </a:spcAft>
              <a:buClr>
                <a:srgbClr val="535353"/>
              </a:buClr>
              <a:buSzPts val="1800"/>
              <a:buChar char="●"/>
            </a:pPr>
            <a:r>
              <a:rPr b="1" lang="en-US" sz="1800">
                <a:solidFill>
                  <a:srgbClr val="535353"/>
                </a:solidFill>
              </a:rPr>
              <a:t>Resultados de Detección:</a:t>
            </a:r>
            <a:endParaRPr b="1" sz="1800">
              <a:solidFill>
                <a:srgbClr val="535353"/>
              </a:solidFill>
            </a:endParaRPr>
          </a:p>
          <a:p>
            <a:pPr indent="0" lvl="0" marL="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rtl="0" algn="l">
              <a:spcBef>
                <a:spcPts val="0"/>
              </a:spcBef>
              <a:spcAft>
                <a:spcPts val="0"/>
              </a:spcAft>
              <a:buNone/>
            </a:pPr>
            <a:r>
              <a:t/>
            </a:r>
            <a:endParaRPr sz="1800">
              <a:solidFill>
                <a:srgbClr val="535353"/>
              </a:solidFill>
            </a:endParaRPr>
          </a:p>
          <a:p>
            <a:pPr indent="-228600" lvl="0" marL="228600" marR="0" rtl="0" algn="l">
              <a:lnSpc>
                <a:spcPct val="100000"/>
              </a:lnSpc>
              <a:spcBef>
                <a:spcPts val="0"/>
              </a:spcBef>
              <a:spcAft>
                <a:spcPts val="0"/>
              </a:spcAft>
              <a:buClr>
                <a:srgbClr val="535353"/>
              </a:buClr>
              <a:buSzPts val="1800"/>
              <a:buFont typeface="Arial"/>
              <a:buNone/>
            </a:pPr>
            <a:r>
              <a:t/>
            </a:r>
            <a:endParaRPr sz="1800">
              <a:solidFill>
                <a:srgbClr val="535353"/>
              </a:solidFill>
            </a:endParaRPr>
          </a:p>
        </p:txBody>
      </p:sp>
      <p:pic>
        <p:nvPicPr>
          <p:cNvPr id="312" name="Google Shape;312;g366391e8495_0_37"/>
          <p:cNvPicPr preferRelativeResize="0"/>
          <p:nvPr/>
        </p:nvPicPr>
        <p:blipFill>
          <a:blip r:embed="rId3">
            <a:alphaModFix/>
          </a:blip>
          <a:stretch>
            <a:fillRect/>
          </a:stretch>
        </p:blipFill>
        <p:spPr>
          <a:xfrm>
            <a:off x="446176" y="2078674"/>
            <a:ext cx="6188737" cy="26449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6" name="Shape 316"/>
        <p:cNvGrpSpPr/>
        <p:nvPr/>
      </p:nvGrpSpPr>
      <p:grpSpPr>
        <a:xfrm>
          <a:off x="0" y="0"/>
          <a:ext cx="0" cy="0"/>
          <a:chOff x="0" y="0"/>
          <a:chExt cx="0" cy="0"/>
        </a:xfrm>
      </p:grpSpPr>
      <p:sp>
        <p:nvSpPr>
          <p:cNvPr id="317" name="Google Shape;317;p35"/>
          <p:cNvSpPr txBox="1"/>
          <p:nvPr/>
        </p:nvSpPr>
        <p:spPr>
          <a:xfrm>
            <a:off x="3612748" y="5843675"/>
            <a:ext cx="1918500" cy="430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89898"/>
              </a:buClr>
              <a:buSzPts val="2200"/>
              <a:buFont typeface="Arial"/>
              <a:buNone/>
            </a:pPr>
            <a:r>
              <a:rPr b="0" i="0" lang="en-US" sz="2200" u="none">
                <a:solidFill>
                  <a:srgbClr val="989898"/>
                </a:solidFill>
                <a:latin typeface="Arial"/>
                <a:ea typeface="Arial"/>
                <a:cs typeface="Arial"/>
                <a:sym typeface="Arial"/>
              </a:rPr>
              <a:t>www.unir.net</a:t>
            </a:r>
            <a:endParaRPr/>
          </a:p>
        </p:txBody>
      </p:sp>
      <p:pic>
        <p:nvPicPr>
          <p:cNvPr id="318" name="Google Shape;318;p35"/>
          <p:cNvPicPr preferRelativeResize="0"/>
          <p:nvPr/>
        </p:nvPicPr>
        <p:blipFill rotWithShape="1">
          <a:blip r:embed="rId3">
            <a:alphaModFix/>
          </a:blip>
          <a:srcRect b="0" l="0" r="0" t="0"/>
          <a:stretch/>
        </p:blipFill>
        <p:spPr>
          <a:xfrm>
            <a:off x="2349500" y="1484312"/>
            <a:ext cx="3340893" cy="230266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a:themeElements>
    <a:clrScheme name="">
      <a:dk1>
        <a:srgbClr val="535353"/>
      </a:dk1>
      <a:lt1>
        <a:srgbClr val="FFFFFF"/>
      </a:lt1>
      <a:dk2>
        <a:srgbClr val="A7A7A7"/>
      </a:dk2>
      <a:lt2>
        <a:srgbClr val="535353"/>
      </a:lt2>
      <a:accent1>
        <a:srgbClr val="0F7EC5"/>
      </a:accent1>
      <a:accent2>
        <a:srgbClr val="11A1FF"/>
      </a:accent2>
      <a:accent3>
        <a:srgbClr val="FFFFFF"/>
      </a:accent3>
      <a:accent4>
        <a:srgbClr val="464646"/>
      </a:accent4>
      <a:accent5>
        <a:srgbClr val="AAC0DF"/>
      </a:accent5>
      <a:accent6>
        <a:srgbClr val="0E91E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 1_Quote slide">
  <a:themeElements>
    <a:clrScheme name="">
      <a:dk1>
        <a:srgbClr val="535353"/>
      </a:dk1>
      <a:lt1>
        <a:srgbClr val="FFFFFF"/>
      </a:lt1>
      <a:dk2>
        <a:srgbClr val="A7A7A7"/>
      </a:dk2>
      <a:lt2>
        <a:srgbClr val="535353"/>
      </a:lt2>
      <a:accent1>
        <a:srgbClr val="0F7EC5"/>
      </a:accent1>
      <a:accent2>
        <a:srgbClr val="11A1FF"/>
      </a:accent2>
      <a:accent3>
        <a:srgbClr val="FFFFFF"/>
      </a:accent3>
      <a:accent4>
        <a:srgbClr val="464646"/>
      </a:accent4>
      <a:accent5>
        <a:srgbClr val="AAC0DF"/>
      </a:accent5>
      <a:accent6>
        <a:srgbClr val="0E91E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María Gómez Espinosa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splay_urn:schemas-microsoft-com:office:office#SharedWithUsers">
    <vt:lpstr>Montserrat Boix Teruel;Cristina Jiménez Hernández</vt:lpstr>
  </property>
  <property fmtid="{D5CDD505-2E9C-101B-9397-08002B2CF9AE}" pid="3" name="SharedWithUsers">
    <vt:lpstr>1683;#Montserrat Boix Teruel;#2148;#Cristina Jiménez Hernández</vt:lpstr>
  </property>
</Properties>
</file>